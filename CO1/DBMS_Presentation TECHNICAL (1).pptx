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7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2B251E-D3A3-E3F9-E059-9F0625FC25C3}"/>
              </a:ext>
            </a:extLst>
          </p:cNvPr>
          <p:cNvPicPr>
            <a:picLocks noChangeAspect="1"/>
          </p:cNvPicPr>
          <p:nvPr/>
        </p:nvPicPr>
        <p:blipFill>
          <a:blip r:embed="rId2"/>
          <a:stretch>
            <a:fillRect/>
          </a:stretch>
        </p:blipFill>
        <p:spPr>
          <a:xfrm>
            <a:off x="5905629" y="0"/>
            <a:ext cx="5162550" cy="6858000"/>
          </a:xfrm>
          <a:prstGeom prst="rect">
            <a:avLst/>
          </a:prstGeom>
        </p:spPr>
      </p:pic>
      <p:pic>
        <p:nvPicPr>
          <p:cNvPr id="5" name="Picture 4">
            <a:extLst>
              <a:ext uri="{FF2B5EF4-FFF2-40B4-BE49-F238E27FC236}">
                <a16:creationId xmlns:a16="http://schemas.microsoft.com/office/drawing/2014/main" id="{65FF7D29-348B-C016-A7BC-639428F3AB22}"/>
              </a:ext>
            </a:extLst>
          </p:cNvPr>
          <p:cNvPicPr>
            <a:picLocks noChangeAspect="1"/>
          </p:cNvPicPr>
          <p:nvPr/>
        </p:nvPicPr>
        <p:blipFill>
          <a:blip r:embed="rId3"/>
          <a:stretch>
            <a:fillRect/>
          </a:stretch>
        </p:blipFill>
        <p:spPr>
          <a:xfrm>
            <a:off x="14968" y="0"/>
            <a:ext cx="4946457" cy="6858000"/>
          </a:xfrm>
          <a:prstGeom prst="rect">
            <a:avLst/>
          </a:prstGeom>
        </p:spPr>
      </p:pic>
    </p:spTree>
    <p:extLst>
      <p:ext uri="{BB962C8B-B14F-4D97-AF65-F5344CB8AC3E}">
        <p14:creationId xmlns:p14="http://schemas.microsoft.com/office/powerpoint/2010/main" val="130610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7315200" y="1965960"/>
            <a:ext cx="2926080" cy="2926080"/>
          </a:xfrm>
          <a:prstGeom prst="ellipse">
            <a:avLst/>
          </a:prstGeom>
          <a:ln w="12700">
            <a:solidFill>
              <a:srgbClr val="1C7293">
                <a:alpha val="60000"/>
              </a:srgbClr>
            </a:solidFill>
            <a:prstDash val="solid"/>
          </a:ln>
        </p:spPr>
      </p:sp>
      <p:sp>
        <p:nvSpPr>
          <p:cNvPr id="3" name="Shape 1"/>
          <p:cNvSpPr/>
          <p:nvPr/>
        </p:nvSpPr>
        <p:spPr>
          <a:xfrm>
            <a:off x="6789420" y="1440180"/>
            <a:ext cx="3977640" cy="3977640"/>
          </a:xfrm>
          <a:prstGeom prst="ellipse">
            <a:avLst/>
          </a:prstGeom>
          <a:ln w="12700">
            <a:solidFill>
              <a:srgbClr val="1C7293">
                <a:alpha val="50000"/>
              </a:srgbClr>
            </a:solidFill>
            <a:prstDash val="solid"/>
          </a:ln>
        </p:spPr>
      </p:sp>
      <p:sp>
        <p:nvSpPr>
          <p:cNvPr id="4" name="Shape 2"/>
          <p:cNvSpPr/>
          <p:nvPr/>
        </p:nvSpPr>
        <p:spPr>
          <a:xfrm>
            <a:off x="6263640" y="914400"/>
            <a:ext cx="5029200" cy="5029200"/>
          </a:xfrm>
          <a:prstGeom prst="ellipse">
            <a:avLst/>
          </a:prstGeom>
          <a:ln w="12700">
            <a:solidFill>
              <a:srgbClr val="1C7293">
                <a:alpha val="40000"/>
              </a:srgbClr>
            </a:solidFill>
            <a:prstDash val="solid"/>
          </a:ln>
        </p:spPr>
      </p:sp>
      <p:sp>
        <p:nvSpPr>
          <p:cNvPr id="5" name="Shape 3"/>
          <p:cNvSpPr/>
          <p:nvPr/>
        </p:nvSpPr>
        <p:spPr>
          <a:xfrm>
            <a:off x="5737860" y="388620"/>
            <a:ext cx="6080760" cy="6080760"/>
          </a:xfrm>
          <a:prstGeom prst="ellipse">
            <a:avLst/>
          </a:prstGeom>
          <a:ln w="12700">
            <a:solidFill>
              <a:srgbClr val="1C7293">
                <a:alpha val="30000"/>
              </a:srgbClr>
            </a:solidFill>
            <a:prstDash val="solid"/>
          </a:ln>
        </p:spPr>
      </p:sp>
      <p:sp>
        <p:nvSpPr>
          <p:cNvPr id="6" name="Shape 4"/>
          <p:cNvSpPr/>
          <p:nvPr/>
        </p:nvSpPr>
        <p:spPr>
          <a:xfrm>
            <a:off x="8366760" y="3017520"/>
            <a:ext cx="822960" cy="822960"/>
          </a:xfrm>
          <a:prstGeom prst="roundRect">
            <a:avLst>
              <a:gd name="adj" fmla="val 16667"/>
            </a:avLst>
          </a:prstGeom>
          <a:solidFill>
            <a:srgbClr val="F2B134"/>
          </a:solidFill>
          <a:ln/>
        </p:spPr>
      </p:sp>
      <p:sp>
        <p:nvSpPr>
          <p:cNvPr id="7" name="Text 5"/>
          <p:cNvSpPr/>
          <p:nvPr/>
        </p:nvSpPr>
        <p:spPr>
          <a:xfrm>
            <a:off x="8366760" y="3017520"/>
            <a:ext cx="822960" cy="82296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DBMS</a:t>
            </a:r>
            <a:endParaRPr lang="en-US" sz="1500" dirty="0"/>
          </a:p>
        </p:txBody>
      </p:sp>
      <p:sp>
        <p:nvSpPr>
          <p:cNvPr id="8" name="Text 6"/>
          <p:cNvSpPr/>
          <p:nvPr/>
        </p:nvSpPr>
        <p:spPr>
          <a:xfrm>
            <a:off x="658368" y="2256042"/>
            <a:ext cx="7315200" cy="365760"/>
          </a:xfrm>
          <a:prstGeom prst="rect">
            <a:avLst/>
          </a:prstGeom>
          <a:noFill/>
          <a:ln/>
        </p:spPr>
        <p:txBody>
          <a:bodyPr wrap="square" rtlCol="0" anchor="ctr"/>
          <a:lstStyle/>
          <a:p>
            <a:pPr marL="0" indent="0">
              <a:buNone/>
            </a:pPr>
            <a:r>
              <a:rPr lang="en-US" sz="1400" b="1" kern="0" spc="300" dirty="0">
                <a:solidFill>
                  <a:srgbClr val="F2B134"/>
                </a:solidFill>
                <a:latin typeface="Calibri" pitchFamily="34" charset="0"/>
                <a:ea typeface="Calibri" pitchFamily="34" charset="-122"/>
                <a:cs typeface="Calibri" pitchFamily="34" charset="-120"/>
              </a:rPr>
              <a:t>CSA-0501</a:t>
            </a:r>
            <a:endParaRPr lang="en-US" sz="1400" dirty="0"/>
          </a:p>
        </p:txBody>
      </p:sp>
      <p:sp>
        <p:nvSpPr>
          <p:cNvPr id="9" name="Text 7"/>
          <p:cNvSpPr/>
          <p:nvPr/>
        </p:nvSpPr>
        <p:spPr>
          <a:xfrm>
            <a:off x="640080" y="2697480"/>
            <a:ext cx="6949440" cy="173736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Database Management System-Technical Presentation</a:t>
            </a:r>
            <a:endParaRPr lang="en-US" sz="4200" dirty="0"/>
          </a:p>
        </p:txBody>
      </p:sp>
      <p:sp>
        <p:nvSpPr>
          <p:cNvPr id="10" name="Text 8"/>
          <p:cNvSpPr/>
          <p:nvPr/>
        </p:nvSpPr>
        <p:spPr>
          <a:xfrm>
            <a:off x="658368" y="4343400"/>
            <a:ext cx="6035040" cy="822960"/>
          </a:xfrm>
          <a:prstGeom prst="rect">
            <a:avLst/>
          </a:prstGeom>
          <a:noFill/>
          <a:ln/>
        </p:spPr>
        <p:txBody>
          <a:bodyPr wrap="square" rtlCol="0" anchor="ctr"/>
          <a:lstStyle/>
          <a:p>
            <a:pPr marL="0" indent="0">
              <a:lnSpc>
                <a:spcPct val="120000"/>
              </a:lnSpc>
              <a:buNone/>
            </a:pPr>
            <a:r>
              <a:rPr lang="en-US" sz="1300" dirty="0">
                <a:solidFill>
                  <a:srgbClr val="CFE8F0"/>
                </a:solidFill>
                <a:latin typeface="Calibri" pitchFamily="34" charset="0"/>
                <a:ea typeface="Calibri" pitchFamily="34" charset="-122"/>
                <a:cs typeface="Calibri" pitchFamily="34" charset="-120"/>
              </a:rPr>
              <a:t> </a:t>
            </a:r>
            <a:endParaRPr lang="en-US" sz="1300" dirty="0"/>
          </a:p>
        </p:txBody>
      </p:sp>
      <p:sp>
        <p:nvSpPr>
          <p:cNvPr id="11" name="Shape 9"/>
          <p:cNvSpPr/>
          <p:nvPr/>
        </p:nvSpPr>
        <p:spPr>
          <a:xfrm>
            <a:off x="658368" y="5349240"/>
            <a:ext cx="2011680" cy="0"/>
          </a:xfrm>
          <a:prstGeom prst="line">
            <a:avLst/>
          </a:prstGeom>
          <a:noFill/>
          <a:ln w="25400">
            <a:solidFill>
              <a:srgbClr val="1C7293"/>
            </a:solidFill>
            <a:prstDash val="solid"/>
          </a:ln>
        </p:spPr>
      </p:sp>
      <p:sp>
        <p:nvSpPr>
          <p:cNvPr id="12" name="Text 10"/>
          <p:cNvSpPr/>
          <p:nvPr/>
        </p:nvSpPr>
        <p:spPr>
          <a:xfrm>
            <a:off x="658368" y="5532120"/>
            <a:ext cx="7315200" cy="365760"/>
          </a:xfrm>
          <a:prstGeom prst="rect">
            <a:avLst/>
          </a:prstGeom>
          <a:noFill/>
          <a:ln/>
        </p:spPr>
        <p:txBody>
          <a:bodyPr wrap="square" rtlCol="0" anchor="ctr"/>
          <a:lstStyle/>
          <a:p>
            <a:pPr marL="0" indent="0">
              <a:buNone/>
            </a:pPr>
            <a:r>
              <a:rPr lang="en-US" sz="2000" dirty="0" err="1">
                <a:solidFill>
                  <a:schemeClr val="bg1"/>
                </a:solidFill>
                <a:latin typeface="Calibri" pitchFamily="34" charset="0"/>
                <a:ea typeface="Calibri" pitchFamily="34" charset="-122"/>
                <a:cs typeface="Calibri" pitchFamily="34" charset="-120"/>
              </a:rPr>
              <a:t>Nitthyendren</a:t>
            </a:r>
            <a:r>
              <a:rPr lang="en-US" sz="2000" dirty="0">
                <a:solidFill>
                  <a:schemeClr val="bg1"/>
                </a:solidFill>
                <a:latin typeface="Calibri" pitchFamily="34" charset="0"/>
                <a:ea typeface="Calibri" pitchFamily="34" charset="-122"/>
                <a:cs typeface="Calibri" pitchFamily="34" charset="-120"/>
              </a:rPr>
              <a:t> JS </a:t>
            </a:r>
          </a:p>
          <a:p>
            <a:pPr marL="0" indent="0">
              <a:buNone/>
            </a:pPr>
            <a:r>
              <a:rPr lang="en-US" sz="2000" dirty="0">
                <a:solidFill>
                  <a:schemeClr val="bg1"/>
                </a:solidFill>
                <a:latin typeface="Calibri" pitchFamily="34" charset="0"/>
                <a:ea typeface="Calibri" pitchFamily="34" charset="-122"/>
                <a:cs typeface="Calibri" pitchFamily="34" charset="-120"/>
              </a:rPr>
              <a:t>192421180</a:t>
            </a:r>
            <a:endParaRPr lang="en-US" sz="2000" dirty="0">
              <a:solidFill>
                <a:schemeClr val="bg1"/>
              </a:solidFill>
            </a:endParaRPr>
          </a:p>
        </p:txBody>
      </p:sp>
      <p:pic>
        <p:nvPicPr>
          <p:cNvPr id="14" name="Google Shape;85;p13">
            <a:extLst>
              <a:ext uri="{FF2B5EF4-FFF2-40B4-BE49-F238E27FC236}">
                <a16:creationId xmlns:a16="http://schemas.microsoft.com/office/drawing/2014/main" id="{B88CBEF2-8B30-5FBB-C7E9-D5044B98EFD6}"/>
              </a:ext>
            </a:extLst>
          </p:cNvPr>
          <p:cNvPicPr preferRelativeResize="0"/>
          <p:nvPr/>
        </p:nvPicPr>
        <p:blipFill rotWithShape="1">
          <a:blip r:embed="rId3">
            <a:alphaModFix/>
          </a:blip>
          <a:srcRect/>
          <a:stretch/>
        </p:blipFill>
        <p:spPr>
          <a:xfrm>
            <a:off x="357352" y="219895"/>
            <a:ext cx="1135117" cy="1342883"/>
          </a:xfrm>
          <a:prstGeom prst="rect">
            <a:avLst/>
          </a:prstGeom>
          <a:noFill/>
          <a:ln>
            <a:noFill/>
          </a:ln>
        </p:spPr>
      </p:pic>
      <p:pic>
        <p:nvPicPr>
          <p:cNvPr id="16" name="Google Shape;86;p13">
            <a:extLst>
              <a:ext uri="{FF2B5EF4-FFF2-40B4-BE49-F238E27FC236}">
                <a16:creationId xmlns:a16="http://schemas.microsoft.com/office/drawing/2014/main" id="{668F505C-29EE-2FBE-EF5C-690B0799464C}"/>
              </a:ext>
            </a:extLst>
          </p:cNvPr>
          <p:cNvPicPr preferRelativeResize="0"/>
          <p:nvPr/>
        </p:nvPicPr>
        <p:blipFill rotWithShape="1">
          <a:blip r:embed="rId4">
            <a:alphaModFix/>
          </a:blip>
          <a:srcRect/>
          <a:stretch/>
        </p:blipFill>
        <p:spPr>
          <a:xfrm>
            <a:off x="10514231" y="191626"/>
            <a:ext cx="1520114" cy="13428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1 · UNDERSTAND</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Introduction to DBMS</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02 / 12</a:t>
            </a:r>
            <a:endParaRPr lang="en-US" sz="1600" dirty="0"/>
          </a:p>
        </p:txBody>
      </p:sp>
      <p:sp>
        <p:nvSpPr>
          <p:cNvPr id="5" name="Shape 3"/>
          <p:cNvSpPr/>
          <p:nvPr/>
        </p:nvSpPr>
        <p:spPr>
          <a:xfrm>
            <a:off x="548640" y="1417320"/>
            <a:ext cx="11064240" cy="1051560"/>
          </a:xfrm>
          <a:prstGeom prst="roundRect">
            <a:avLst>
              <a:gd name="adj" fmla="val 7826"/>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6" name="Shape 4"/>
          <p:cNvSpPr/>
          <p:nvPr/>
        </p:nvSpPr>
        <p:spPr>
          <a:xfrm>
            <a:off x="822960" y="1664208"/>
            <a:ext cx="548640" cy="548640"/>
          </a:xfrm>
          <a:prstGeom prst="ellipse">
            <a:avLst/>
          </a:prstGeom>
          <a:solidFill>
            <a:srgbClr val="065A82"/>
          </a:solidFill>
          <a:ln/>
        </p:spPr>
      </p:sp>
      <p:sp>
        <p:nvSpPr>
          <p:cNvPr id="7" name="Text 5"/>
          <p:cNvSpPr/>
          <p:nvPr/>
        </p:nvSpPr>
        <p:spPr>
          <a:xfrm>
            <a:off x="822960" y="1664208"/>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6"/>
          <p:cNvSpPr/>
          <p:nvPr/>
        </p:nvSpPr>
        <p:spPr>
          <a:xfrm>
            <a:off x="1600200" y="1417320"/>
            <a:ext cx="9829800" cy="1051560"/>
          </a:xfrm>
          <a:prstGeom prst="rect">
            <a:avLst/>
          </a:prstGeom>
          <a:noFill/>
          <a:ln/>
        </p:spPr>
        <p:txBody>
          <a:bodyPr wrap="square" rtlCol="0" anchor="ctr"/>
          <a:lstStyle/>
          <a:p>
            <a:pPr marL="0" indent="0">
              <a:lnSpc>
                <a:spcPct val="115000"/>
              </a:lnSpc>
              <a:buNone/>
            </a:pPr>
            <a:r>
              <a:rPr lang="en-US" sz="1600" b="1" dirty="0">
                <a:solidFill>
                  <a:srgbClr val="21295C"/>
                </a:solidFill>
                <a:latin typeface="Calibri" pitchFamily="34" charset="0"/>
                <a:ea typeface="Calibri" pitchFamily="34" charset="-122"/>
                <a:cs typeface="Calibri" pitchFamily="34" charset="-120"/>
              </a:rPr>
              <a:t>Definition:  </a:t>
            </a:r>
            <a:r>
              <a:rPr lang="en-US" sz="1600" dirty="0">
                <a:solidFill>
                  <a:srgbClr val="16232E"/>
                </a:solidFill>
                <a:latin typeface="Calibri" pitchFamily="34" charset="0"/>
                <a:ea typeface="Calibri" pitchFamily="34" charset="-122"/>
                <a:cs typeface="Calibri" pitchFamily="34" charset="-120"/>
              </a:rPr>
              <a:t>A Database Management System (DBMS) is software that creates, organises, stores and manages data, letting users and applications define, insert, query, update and delete data reliably, while enforcing integrity, security and controlled concurrent access.</a:t>
            </a:r>
            <a:endParaRPr lang="en-US" sz="1600" dirty="0"/>
          </a:p>
        </p:txBody>
      </p:sp>
      <p:sp>
        <p:nvSpPr>
          <p:cNvPr id="9" name="Shape 7"/>
          <p:cNvSpPr/>
          <p:nvPr/>
        </p:nvSpPr>
        <p:spPr>
          <a:xfrm>
            <a:off x="548640" y="2697480"/>
            <a:ext cx="5349240" cy="3520440"/>
          </a:xfrm>
          <a:prstGeom prst="roundRect">
            <a:avLst>
              <a:gd name="adj" fmla="val 2338"/>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0" name="Shape 8"/>
          <p:cNvSpPr/>
          <p:nvPr/>
        </p:nvSpPr>
        <p:spPr>
          <a:xfrm>
            <a:off x="822960" y="2926080"/>
            <a:ext cx="457200" cy="457200"/>
          </a:xfrm>
          <a:prstGeom prst="roundRect">
            <a:avLst>
              <a:gd name="adj" fmla="val 16000"/>
            </a:avLst>
          </a:prstGeom>
          <a:solidFill>
            <a:srgbClr val="1C7293"/>
          </a:solidFill>
          <a:ln/>
        </p:spPr>
      </p:sp>
      <p:sp>
        <p:nvSpPr>
          <p:cNvPr id="11" name="Text 9"/>
          <p:cNvSpPr/>
          <p:nvPr/>
        </p:nvSpPr>
        <p:spPr>
          <a:xfrm>
            <a:off x="822960" y="29260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O</a:t>
            </a:r>
            <a:endParaRPr lang="en-US" sz="1600" dirty="0"/>
          </a:p>
        </p:txBody>
      </p:sp>
      <p:sp>
        <p:nvSpPr>
          <p:cNvPr id="12" name="Text 10"/>
          <p:cNvSpPr/>
          <p:nvPr/>
        </p:nvSpPr>
        <p:spPr>
          <a:xfrm>
            <a:off x="1417320" y="2944368"/>
            <a:ext cx="3657600" cy="41148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Objectives</a:t>
            </a:r>
            <a:endParaRPr lang="en-US" sz="1600" dirty="0"/>
          </a:p>
        </p:txBody>
      </p:sp>
      <p:sp>
        <p:nvSpPr>
          <p:cNvPr id="13" name="Text 11"/>
          <p:cNvSpPr/>
          <p:nvPr/>
        </p:nvSpPr>
        <p:spPr>
          <a:xfrm>
            <a:off x="601824" y="3541900"/>
            <a:ext cx="5532120" cy="2606040"/>
          </a:xfrm>
          <a:prstGeom prst="rect">
            <a:avLst/>
          </a:prstGeom>
          <a:noFill/>
          <a:ln/>
        </p:spPr>
        <p:txBody>
          <a:bodyPr wrap="square" rtlCol="0" anchor="t"/>
          <a:lstStyle/>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Ensure data independence between applications and storage</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Minimise data redundancy and duplication</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Enforce integrity, accuracy and consistency constraints</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Provide security through authentication and access control</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Support concurrent multi-user access safely</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Enable backup, recovery and crash resilience</a:t>
            </a:r>
            <a:endParaRPr lang="en-US" sz="1600" dirty="0"/>
          </a:p>
        </p:txBody>
      </p:sp>
      <p:sp>
        <p:nvSpPr>
          <p:cNvPr id="14" name="Shape 12"/>
          <p:cNvSpPr/>
          <p:nvPr/>
        </p:nvSpPr>
        <p:spPr>
          <a:xfrm>
            <a:off x="6080760" y="2697480"/>
            <a:ext cx="5532120" cy="3520440"/>
          </a:xfrm>
          <a:prstGeom prst="roundRect">
            <a:avLst>
              <a:gd name="adj" fmla="val 2338"/>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5" name="Shape 13"/>
          <p:cNvSpPr/>
          <p:nvPr/>
        </p:nvSpPr>
        <p:spPr>
          <a:xfrm>
            <a:off x="6355080" y="2926080"/>
            <a:ext cx="457200" cy="457200"/>
          </a:xfrm>
          <a:prstGeom prst="roundRect">
            <a:avLst>
              <a:gd name="adj" fmla="val 16000"/>
            </a:avLst>
          </a:prstGeom>
          <a:solidFill>
            <a:srgbClr val="065A82"/>
          </a:solidFill>
          <a:ln/>
        </p:spPr>
      </p:sp>
      <p:sp>
        <p:nvSpPr>
          <p:cNvPr id="16" name="Text 14"/>
          <p:cNvSpPr/>
          <p:nvPr/>
        </p:nvSpPr>
        <p:spPr>
          <a:xfrm>
            <a:off x="6355080" y="29260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7" name="Text 15"/>
          <p:cNvSpPr/>
          <p:nvPr/>
        </p:nvSpPr>
        <p:spPr>
          <a:xfrm>
            <a:off x="6949440" y="2944368"/>
            <a:ext cx="3657600" cy="41148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Advantages</a:t>
            </a:r>
            <a:endParaRPr lang="en-US" sz="1600" dirty="0"/>
          </a:p>
        </p:txBody>
      </p:sp>
      <p:sp>
        <p:nvSpPr>
          <p:cNvPr id="18" name="Text 16"/>
          <p:cNvSpPr/>
          <p:nvPr/>
        </p:nvSpPr>
        <p:spPr>
          <a:xfrm>
            <a:off x="6355080" y="3520440"/>
            <a:ext cx="4983480" cy="1737360"/>
          </a:xfrm>
          <a:prstGeom prst="rect">
            <a:avLst/>
          </a:prstGeom>
          <a:noFill/>
          <a:ln/>
        </p:spPr>
        <p:txBody>
          <a:bodyPr wrap="square" rtlCol="0" anchor="t"/>
          <a:lstStyle/>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Reduced redundancy and controlled data sharing</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Consistent, accurate data across all users</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Strong security and role-based access</a:t>
            </a:r>
            <a:endParaRPr lang="en-US" sz="1600" dirty="0"/>
          </a:p>
          <a:p>
            <a:pPr marL="177800" indent="-177800" algn="l">
              <a:lnSpc>
                <a:spcPct val="108000"/>
              </a:lnSpc>
              <a:spcAft>
                <a:spcPts val="1000"/>
              </a:spcAft>
              <a:buSzPct val="100000"/>
              <a:buChar char="•"/>
            </a:pPr>
            <a:r>
              <a:rPr lang="en-US" sz="1600" dirty="0">
                <a:solidFill>
                  <a:srgbClr val="16232E"/>
                </a:solidFill>
                <a:latin typeface="Calibri" pitchFamily="34" charset="0"/>
                <a:ea typeface="Calibri" pitchFamily="34" charset="-122"/>
                <a:cs typeface="Calibri" pitchFamily="34" charset="-120"/>
              </a:rPr>
              <a:t>Efficient querying via SQL and indexing</a:t>
            </a:r>
            <a:endParaRPr lang="en-US" sz="1600" dirty="0"/>
          </a:p>
        </p:txBody>
      </p:sp>
      <p:sp>
        <p:nvSpPr>
          <p:cNvPr id="19" name="Text 17"/>
          <p:cNvSpPr/>
          <p:nvPr/>
        </p:nvSpPr>
        <p:spPr>
          <a:xfrm>
            <a:off x="6355080" y="5074920"/>
            <a:ext cx="4572000" cy="274320"/>
          </a:xfrm>
          <a:prstGeom prst="rect">
            <a:avLst/>
          </a:prstGeom>
          <a:noFill/>
          <a:ln/>
        </p:spPr>
        <p:txBody>
          <a:bodyPr wrap="square"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Real-World Applications</a:t>
            </a:r>
            <a:endParaRPr lang="en-US" sz="1600" dirty="0"/>
          </a:p>
        </p:txBody>
      </p:sp>
      <p:sp>
        <p:nvSpPr>
          <p:cNvPr id="20" name="Shape 18"/>
          <p:cNvSpPr/>
          <p:nvPr/>
        </p:nvSpPr>
        <p:spPr>
          <a:xfrm>
            <a:off x="6355080" y="5394960"/>
            <a:ext cx="960120" cy="594360"/>
          </a:xfrm>
          <a:prstGeom prst="roundRect">
            <a:avLst>
              <a:gd name="adj" fmla="val 12308"/>
            </a:avLst>
          </a:prstGeom>
          <a:solidFill>
            <a:srgbClr val="CFE8F0"/>
          </a:solidFill>
          <a:ln/>
        </p:spPr>
      </p:sp>
      <p:sp>
        <p:nvSpPr>
          <p:cNvPr id="21" name="Text 19"/>
          <p:cNvSpPr/>
          <p:nvPr/>
        </p:nvSpPr>
        <p:spPr>
          <a:xfrm>
            <a:off x="6355080" y="5394960"/>
            <a:ext cx="960120" cy="59436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Banking</a:t>
            </a:r>
            <a:endParaRPr lang="en-US" sz="1600" dirty="0"/>
          </a:p>
        </p:txBody>
      </p:sp>
      <p:sp>
        <p:nvSpPr>
          <p:cNvPr id="22" name="Shape 20"/>
          <p:cNvSpPr/>
          <p:nvPr/>
        </p:nvSpPr>
        <p:spPr>
          <a:xfrm>
            <a:off x="7424928" y="5394960"/>
            <a:ext cx="960120" cy="594360"/>
          </a:xfrm>
          <a:prstGeom prst="roundRect">
            <a:avLst>
              <a:gd name="adj" fmla="val 12308"/>
            </a:avLst>
          </a:prstGeom>
          <a:solidFill>
            <a:srgbClr val="CFE8F0"/>
          </a:solidFill>
          <a:ln/>
        </p:spPr>
      </p:sp>
      <p:sp>
        <p:nvSpPr>
          <p:cNvPr id="23" name="Text 21"/>
          <p:cNvSpPr/>
          <p:nvPr/>
        </p:nvSpPr>
        <p:spPr>
          <a:xfrm>
            <a:off x="7424928" y="5394960"/>
            <a:ext cx="960120" cy="594360"/>
          </a:xfrm>
          <a:prstGeom prst="rect">
            <a:avLst/>
          </a:prstGeom>
          <a:noFill/>
          <a:ln/>
        </p:spPr>
        <p:txBody>
          <a:bodyPr wrap="square"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Healthcare</a:t>
            </a:r>
            <a:endParaRPr lang="en-US" sz="1200" dirty="0"/>
          </a:p>
        </p:txBody>
      </p:sp>
      <p:sp>
        <p:nvSpPr>
          <p:cNvPr id="24" name="Shape 22"/>
          <p:cNvSpPr/>
          <p:nvPr/>
        </p:nvSpPr>
        <p:spPr>
          <a:xfrm>
            <a:off x="8494776" y="5394960"/>
            <a:ext cx="960120" cy="594360"/>
          </a:xfrm>
          <a:prstGeom prst="roundRect">
            <a:avLst>
              <a:gd name="adj" fmla="val 12308"/>
            </a:avLst>
          </a:prstGeom>
          <a:solidFill>
            <a:srgbClr val="CFE8F0"/>
          </a:solidFill>
          <a:ln/>
        </p:spPr>
      </p:sp>
      <p:sp>
        <p:nvSpPr>
          <p:cNvPr id="25" name="Text 23"/>
          <p:cNvSpPr/>
          <p:nvPr/>
        </p:nvSpPr>
        <p:spPr>
          <a:xfrm>
            <a:off x="8494776" y="5394960"/>
            <a:ext cx="960120" cy="594360"/>
          </a:xfrm>
          <a:prstGeom prst="rect">
            <a:avLst/>
          </a:prstGeom>
          <a:noFill/>
          <a:ln/>
        </p:spPr>
        <p:txBody>
          <a:bodyPr wrap="square"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E-commerce</a:t>
            </a:r>
            <a:endParaRPr lang="en-US" sz="1200" dirty="0"/>
          </a:p>
        </p:txBody>
      </p:sp>
      <p:sp>
        <p:nvSpPr>
          <p:cNvPr id="26" name="Shape 24"/>
          <p:cNvSpPr/>
          <p:nvPr/>
        </p:nvSpPr>
        <p:spPr>
          <a:xfrm>
            <a:off x="9564624" y="5394960"/>
            <a:ext cx="960120" cy="594360"/>
          </a:xfrm>
          <a:prstGeom prst="roundRect">
            <a:avLst>
              <a:gd name="adj" fmla="val 12308"/>
            </a:avLst>
          </a:prstGeom>
          <a:solidFill>
            <a:srgbClr val="CFE8F0"/>
          </a:solidFill>
          <a:ln/>
        </p:spPr>
      </p:sp>
      <p:sp>
        <p:nvSpPr>
          <p:cNvPr id="27" name="Text 25"/>
          <p:cNvSpPr/>
          <p:nvPr/>
        </p:nvSpPr>
        <p:spPr>
          <a:xfrm>
            <a:off x="9564624" y="5394960"/>
            <a:ext cx="960120" cy="59436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Airlines</a:t>
            </a:r>
            <a:endParaRPr lang="en-US" sz="1600" dirty="0"/>
          </a:p>
        </p:txBody>
      </p:sp>
      <p:sp>
        <p:nvSpPr>
          <p:cNvPr id="28" name="Shape 26"/>
          <p:cNvSpPr/>
          <p:nvPr/>
        </p:nvSpPr>
        <p:spPr>
          <a:xfrm>
            <a:off x="10634472" y="5394960"/>
            <a:ext cx="960120" cy="594360"/>
          </a:xfrm>
          <a:prstGeom prst="roundRect">
            <a:avLst>
              <a:gd name="adj" fmla="val 12308"/>
            </a:avLst>
          </a:prstGeom>
          <a:solidFill>
            <a:srgbClr val="CFE8F0"/>
          </a:solidFill>
          <a:ln/>
        </p:spPr>
      </p:sp>
      <p:sp>
        <p:nvSpPr>
          <p:cNvPr id="29" name="Text 27"/>
          <p:cNvSpPr/>
          <p:nvPr/>
        </p:nvSpPr>
        <p:spPr>
          <a:xfrm>
            <a:off x="10634472" y="5394960"/>
            <a:ext cx="960120" cy="59436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Education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TOPIC 2 · UNDERSTAND</a:t>
            </a:r>
            <a:endParaRPr lang="en-US" sz="12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File-Based Systems vs DBMS</a:t>
            </a:r>
            <a:endParaRPr lang="en-US" sz="30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100" dirty="0">
                <a:solidFill>
                  <a:srgbClr val="5C7488"/>
                </a:solidFill>
                <a:latin typeface="Calibri" pitchFamily="34" charset="0"/>
                <a:ea typeface="Calibri" pitchFamily="34" charset="-122"/>
                <a:cs typeface="Calibri" pitchFamily="34" charset="-120"/>
              </a:rPr>
              <a:t>03 / 12</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0881360" cy="2898648"/>
        </p:xfrm>
        <a:graphic>
          <a:graphicData uri="http://schemas.openxmlformats.org/drawingml/2006/table">
            <a:tbl>
              <a:tblPr/>
              <a:tblGrid>
                <a:gridCol w="24688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Aspect</a:t>
                      </a:r>
                      <a:endParaRPr lang="en-US" sz="12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2129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File-Based System</a:t>
                      </a:r>
                      <a:endParaRPr lang="en-US" sz="12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2129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DBMS</a:t>
                      </a:r>
                      <a:endParaRPr lang="en-US" sz="12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02920">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Data redundancy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High — same data repeated in many files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Minimised through centralised storage</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Data integrity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8FA"/>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No built-in constraints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8FA"/>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Enforced via keys &amp; constraints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8FA"/>
                    </a:solidFill>
                  </a:tcPr>
                </a:tc>
                <a:extLst>
                  <a:ext uri="{0D108BD9-81ED-4DB2-BD59-A6C34878D82A}">
                    <a16:rowId xmlns:a16="http://schemas.microsoft.com/office/drawing/2014/main" val="10002"/>
                  </a:ext>
                </a:extLst>
              </a:tr>
              <a:tr h="502920">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Concurrent access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Difficult, prone to conflicts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Managed via locking &amp; transactions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Security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8FA"/>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Weak, file-level only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8FA"/>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Role-based, fine-grained access</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8FA"/>
                    </a:solidFill>
                  </a:tcPr>
                </a:tc>
                <a:extLst>
                  <a:ext uri="{0D108BD9-81ED-4DB2-BD59-A6C34878D82A}">
                    <a16:rowId xmlns:a16="http://schemas.microsoft.com/office/drawing/2014/main" val="10004"/>
                  </a:ext>
                </a:extLst>
              </a:tr>
              <a:tr h="502920">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Recovery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Manual, unreliable</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Automated backup &amp; recovery</a:t>
                      </a:r>
                      <a:endParaRPr lang="en-US" sz="11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4709160"/>
            <a:ext cx="5349240" cy="1737360"/>
          </a:xfrm>
          <a:prstGeom prst="roundRect">
            <a:avLst>
              <a:gd name="adj" fmla="val 4737"/>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7" name="Shape 4"/>
          <p:cNvSpPr/>
          <p:nvPr/>
        </p:nvSpPr>
        <p:spPr>
          <a:xfrm>
            <a:off x="777240" y="4919472"/>
            <a:ext cx="457200" cy="457200"/>
          </a:xfrm>
          <a:prstGeom prst="ellipse">
            <a:avLst/>
          </a:prstGeom>
          <a:solidFill>
            <a:srgbClr val="065A82"/>
          </a:solidFill>
          <a:ln/>
        </p:spPr>
      </p:sp>
      <p:sp>
        <p:nvSpPr>
          <p:cNvPr id="8" name="Text 5"/>
          <p:cNvSpPr/>
          <p:nvPr/>
        </p:nvSpPr>
        <p:spPr>
          <a:xfrm>
            <a:off x="777240" y="491947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9" name="Text 6"/>
          <p:cNvSpPr/>
          <p:nvPr/>
        </p:nvSpPr>
        <p:spPr>
          <a:xfrm>
            <a:off x="1371600" y="4892040"/>
            <a:ext cx="4297680" cy="32004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Banking Case Study</a:t>
            </a:r>
            <a:endParaRPr lang="en-US" sz="1350" dirty="0"/>
          </a:p>
        </p:txBody>
      </p:sp>
      <p:sp>
        <p:nvSpPr>
          <p:cNvPr id="10" name="Text 7"/>
          <p:cNvSpPr/>
          <p:nvPr/>
        </p:nvSpPr>
        <p:spPr>
          <a:xfrm>
            <a:off x="777240" y="5257800"/>
            <a:ext cx="4892040" cy="1097280"/>
          </a:xfrm>
          <a:prstGeom prst="rect">
            <a:avLst/>
          </a:prstGeom>
          <a:noFill/>
          <a:ln/>
        </p:spPr>
        <p:txBody>
          <a:bodyPr wrap="square" rtlCol="0" anchor="ctr"/>
          <a:lstStyle/>
          <a:p>
            <a:pPr marL="0" indent="0">
              <a:lnSpc>
                <a:spcPct val="115000"/>
              </a:lnSpc>
              <a:buNone/>
            </a:pPr>
            <a:r>
              <a:rPr lang="en-US" sz="1100" dirty="0">
                <a:solidFill>
                  <a:srgbClr val="16232E"/>
                </a:solidFill>
                <a:latin typeface="Calibri" pitchFamily="34" charset="0"/>
                <a:ea typeface="Calibri" pitchFamily="34" charset="-122"/>
                <a:cs typeface="Calibri" pitchFamily="34" charset="-120"/>
              </a:rPr>
              <a:t>Legacy branch-wise file systems caused duplicate, inconsistent account balances. Core banking DBMS platforms now use ACID transactions so fund transfers stay accurate across all branches and ATMs in real time.</a:t>
            </a:r>
            <a:endParaRPr lang="en-US" sz="1100" dirty="0"/>
          </a:p>
        </p:txBody>
      </p:sp>
      <p:sp>
        <p:nvSpPr>
          <p:cNvPr id="11" name="Shape 8"/>
          <p:cNvSpPr/>
          <p:nvPr/>
        </p:nvSpPr>
        <p:spPr>
          <a:xfrm>
            <a:off x="6080760" y="4709160"/>
            <a:ext cx="5532120" cy="1737360"/>
          </a:xfrm>
          <a:prstGeom prst="roundRect">
            <a:avLst>
              <a:gd name="adj" fmla="val 4737"/>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2" name="Shape 9"/>
          <p:cNvSpPr/>
          <p:nvPr/>
        </p:nvSpPr>
        <p:spPr>
          <a:xfrm>
            <a:off x="6309360" y="4919472"/>
            <a:ext cx="457200" cy="457200"/>
          </a:xfrm>
          <a:prstGeom prst="ellipse">
            <a:avLst/>
          </a:prstGeom>
          <a:solidFill>
            <a:srgbClr val="1C7293"/>
          </a:solidFill>
          <a:ln/>
        </p:spPr>
      </p:sp>
      <p:sp>
        <p:nvSpPr>
          <p:cNvPr id="13" name="Text 10"/>
          <p:cNvSpPr/>
          <p:nvPr/>
        </p:nvSpPr>
        <p:spPr>
          <a:xfrm>
            <a:off x="6309360" y="491947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4" name="Text 11"/>
          <p:cNvSpPr/>
          <p:nvPr/>
        </p:nvSpPr>
        <p:spPr>
          <a:xfrm>
            <a:off x="6903720" y="4892040"/>
            <a:ext cx="4297680" cy="32004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Healthcare Case Study</a:t>
            </a:r>
            <a:endParaRPr lang="en-US" sz="1350" dirty="0"/>
          </a:p>
        </p:txBody>
      </p:sp>
      <p:sp>
        <p:nvSpPr>
          <p:cNvPr id="15" name="Text 12"/>
          <p:cNvSpPr/>
          <p:nvPr/>
        </p:nvSpPr>
        <p:spPr>
          <a:xfrm>
            <a:off x="6309360" y="5257800"/>
            <a:ext cx="5074920" cy="1097280"/>
          </a:xfrm>
          <a:prstGeom prst="rect">
            <a:avLst/>
          </a:prstGeom>
          <a:noFill/>
          <a:ln/>
        </p:spPr>
        <p:txBody>
          <a:bodyPr wrap="square" rtlCol="0" anchor="ctr"/>
          <a:lstStyle/>
          <a:p>
            <a:pPr marL="0" indent="0">
              <a:lnSpc>
                <a:spcPct val="115000"/>
              </a:lnSpc>
              <a:buNone/>
            </a:pPr>
            <a:r>
              <a:rPr lang="en-US" sz="1100" dirty="0">
                <a:solidFill>
                  <a:srgbClr val="16232E"/>
                </a:solidFill>
                <a:latin typeface="Calibri" pitchFamily="34" charset="0"/>
                <a:ea typeface="Calibri" pitchFamily="34" charset="-122"/>
                <a:cs typeface="Calibri" pitchFamily="34" charset="-120"/>
              </a:rPr>
              <a:t>Paper and isolated file records led to duplicated, hard-to-share patient histories. Electronic Health Record (EHR) DBMS platforms unify lab, pharmacy and doctor data, improving diagnosis accuracy and reducing errors.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3 · UNDERSTAND</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Three-Level ANSI/SPARC Architecture</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04 / 12</a:t>
            </a:r>
            <a:endParaRPr lang="en-US" sz="1600" dirty="0"/>
          </a:p>
        </p:txBody>
      </p:sp>
      <p:sp>
        <p:nvSpPr>
          <p:cNvPr id="5" name="Shape 3"/>
          <p:cNvSpPr/>
          <p:nvPr/>
        </p:nvSpPr>
        <p:spPr>
          <a:xfrm>
            <a:off x="640080" y="1554480"/>
            <a:ext cx="6492240" cy="1051560"/>
          </a:xfrm>
          <a:prstGeom prst="rect">
            <a:avLst/>
          </a:prstGeom>
          <a:solidFill>
            <a:srgbClr val="CFE8F0"/>
          </a:solidFill>
          <a:ln/>
        </p:spPr>
      </p:sp>
      <p:sp>
        <p:nvSpPr>
          <p:cNvPr id="6" name="Text 4"/>
          <p:cNvSpPr/>
          <p:nvPr/>
        </p:nvSpPr>
        <p:spPr>
          <a:xfrm>
            <a:off x="822960" y="1627632"/>
            <a:ext cx="2743200" cy="27432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EXTERNAL LEVEL</a:t>
            </a:r>
            <a:endParaRPr lang="en-US" sz="1600" dirty="0"/>
          </a:p>
        </p:txBody>
      </p:sp>
      <p:sp>
        <p:nvSpPr>
          <p:cNvPr id="7" name="Shape 5"/>
          <p:cNvSpPr/>
          <p:nvPr/>
        </p:nvSpPr>
        <p:spPr>
          <a:xfrm>
            <a:off x="914400" y="1920240"/>
            <a:ext cx="1737360" cy="548640"/>
          </a:xfrm>
          <a:prstGeom prst="roundRect">
            <a:avLst>
              <a:gd name="adj" fmla="val 10000"/>
            </a:avLst>
          </a:prstGeom>
          <a:solidFill>
            <a:srgbClr val="FFFFFF"/>
          </a:solidFill>
          <a:ln w="12700">
            <a:solidFill>
              <a:srgbClr val="065A82"/>
            </a:solidFill>
            <a:prstDash val="solid"/>
          </a:ln>
        </p:spPr>
      </p:sp>
      <p:sp>
        <p:nvSpPr>
          <p:cNvPr id="8" name="Text 6"/>
          <p:cNvSpPr/>
          <p:nvPr/>
        </p:nvSpPr>
        <p:spPr>
          <a:xfrm>
            <a:off x="914400" y="1920240"/>
            <a:ext cx="1737360" cy="548640"/>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Teller</a:t>
            </a:r>
            <a:endParaRPr lang="en-US" sz="1600" dirty="0"/>
          </a:p>
          <a:p>
            <a:pPr marL="0" indent="0" algn="ctr">
              <a:buNone/>
            </a:pPr>
            <a:r>
              <a:rPr lang="en-US" sz="1600" dirty="0">
                <a:solidFill>
                  <a:srgbClr val="21295C"/>
                </a:solidFill>
                <a:latin typeface="Calibri" pitchFamily="34" charset="0"/>
                <a:ea typeface="Calibri" pitchFamily="34" charset="-122"/>
                <a:cs typeface="Calibri" pitchFamily="34" charset="-120"/>
              </a:rPr>
              <a:t>View</a:t>
            </a:r>
            <a:endParaRPr lang="en-US" sz="1600" dirty="0"/>
          </a:p>
        </p:txBody>
      </p:sp>
      <p:sp>
        <p:nvSpPr>
          <p:cNvPr id="9" name="Shape 7"/>
          <p:cNvSpPr/>
          <p:nvPr/>
        </p:nvSpPr>
        <p:spPr>
          <a:xfrm>
            <a:off x="2880360" y="1920240"/>
            <a:ext cx="1737360" cy="548640"/>
          </a:xfrm>
          <a:prstGeom prst="roundRect">
            <a:avLst>
              <a:gd name="adj" fmla="val 10000"/>
            </a:avLst>
          </a:prstGeom>
          <a:solidFill>
            <a:srgbClr val="FFFFFF"/>
          </a:solidFill>
          <a:ln w="12700">
            <a:solidFill>
              <a:srgbClr val="065A82"/>
            </a:solidFill>
            <a:prstDash val="solid"/>
          </a:ln>
        </p:spPr>
      </p:sp>
      <p:sp>
        <p:nvSpPr>
          <p:cNvPr id="10" name="Text 8"/>
          <p:cNvSpPr/>
          <p:nvPr/>
        </p:nvSpPr>
        <p:spPr>
          <a:xfrm>
            <a:off x="2880360" y="1920240"/>
            <a:ext cx="1737360" cy="548640"/>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Manager</a:t>
            </a:r>
            <a:endParaRPr lang="en-US" sz="1600" dirty="0"/>
          </a:p>
          <a:p>
            <a:pPr marL="0" indent="0" algn="ctr">
              <a:buNone/>
            </a:pPr>
            <a:r>
              <a:rPr lang="en-US" sz="1600" dirty="0">
                <a:solidFill>
                  <a:srgbClr val="21295C"/>
                </a:solidFill>
                <a:latin typeface="Calibri" pitchFamily="34" charset="0"/>
                <a:ea typeface="Calibri" pitchFamily="34" charset="-122"/>
                <a:cs typeface="Calibri" pitchFamily="34" charset="-120"/>
              </a:rPr>
              <a:t>View</a:t>
            </a:r>
            <a:endParaRPr lang="en-US" sz="1600" dirty="0"/>
          </a:p>
        </p:txBody>
      </p:sp>
      <p:sp>
        <p:nvSpPr>
          <p:cNvPr id="11" name="Shape 9"/>
          <p:cNvSpPr/>
          <p:nvPr/>
        </p:nvSpPr>
        <p:spPr>
          <a:xfrm>
            <a:off x="4846320" y="1920240"/>
            <a:ext cx="1737360" cy="548640"/>
          </a:xfrm>
          <a:prstGeom prst="roundRect">
            <a:avLst>
              <a:gd name="adj" fmla="val 10000"/>
            </a:avLst>
          </a:prstGeom>
          <a:solidFill>
            <a:srgbClr val="FFFFFF"/>
          </a:solidFill>
          <a:ln w="12700">
            <a:solidFill>
              <a:srgbClr val="065A82"/>
            </a:solidFill>
            <a:prstDash val="solid"/>
          </a:ln>
        </p:spPr>
      </p:sp>
      <p:sp>
        <p:nvSpPr>
          <p:cNvPr id="12" name="Text 10"/>
          <p:cNvSpPr/>
          <p:nvPr/>
        </p:nvSpPr>
        <p:spPr>
          <a:xfrm>
            <a:off x="4846320" y="1920240"/>
            <a:ext cx="1737360" cy="548640"/>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Auditor</a:t>
            </a:r>
            <a:endParaRPr lang="en-US" sz="1600" dirty="0"/>
          </a:p>
          <a:p>
            <a:pPr marL="0" indent="0" algn="ctr">
              <a:buNone/>
            </a:pPr>
            <a:r>
              <a:rPr lang="en-US" sz="1600" dirty="0">
                <a:solidFill>
                  <a:srgbClr val="21295C"/>
                </a:solidFill>
                <a:latin typeface="Calibri" pitchFamily="34" charset="0"/>
                <a:ea typeface="Calibri" pitchFamily="34" charset="-122"/>
                <a:cs typeface="Calibri" pitchFamily="34" charset="-120"/>
              </a:rPr>
              <a:t>View</a:t>
            </a:r>
            <a:endParaRPr lang="en-US" sz="1600" dirty="0"/>
          </a:p>
        </p:txBody>
      </p:sp>
      <p:sp>
        <p:nvSpPr>
          <p:cNvPr id="13" name="Shape 11"/>
          <p:cNvSpPr/>
          <p:nvPr/>
        </p:nvSpPr>
        <p:spPr>
          <a:xfrm>
            <a:off x="1783080" y="2606040"/>
            <a:ext cx="0" cy="365760"/>
          </a:xfrm>
          <a:prstGeom prst="line">
            <a:avLst/>
          </a:prstGeom>
          <a:noFill/>
          <a:ln w="19050">
            <a:solidFill>
              <a:srgbClr val="5C7488"/>
            </a:solidFill>
            <a:prstDash val="solid"/>
          </a:ln>
        </p:spPr>
      </p:sp>
      <p:sp>
        <p:nvSpPr>
          <p:cNvPr id="14" name="Shape 12"/>
          <p:cNvSpPr/>
          <p:nvPr/>
        </p:nvSpPr>
        <p:spPr>
          <a:xfrm>
            <a:off x="3749040" y="2606040"/>
            <a:ext cx="0" cy="365760"/>
          </a:xfrm>
          <a:prstGeom prst="line">
            <a:avLst/>
          </a:prstGeom>
          <a:noFill/>
          <a:ln w="19050">
            <a:solidFill>
              <a:srgbClr val="5C7488"/>
            </a:solidFill>
            <a:prstDash val="solid"/>
          </a:ln>
        </p:spPr>
      </p:sp>
      <p:sp>
        <p:nvSpPr>
          <p:cNvPr id="15" name="Shape 13"/>
          <p:cNvSpPr/>
          <p:nvPr/>
        </p:nvSpPr>
        <p:spPr>
          <a:xfrm>
            <a:off x="5715000" y="2606040"/>
            <a:ext cx="0" cy="365760"/>
          </a:xfrm>
          <a:prstGeom prst="line">
            <a:avLst/>
          </a:prstGeom>
          <a:noFill/>
          <a:ln w="19050">
            <a:solidFill>
              <a:srgbClr val="5C7488"/>
            </a:solidFill>
            <a:prstDash val="solid"/>
          </a:ln>
        </p:spPr>
      </p:sp>
      <p:sp>
        <p:nvSpPr>
          <p:cNvPr id="16" name="Shape 14"/>
          <p:cNvSpPr/>
          <p:nvPr/>
        </p:nvSpPr>
        <p:spPr>
          <a:xfrm>
            <a:off x="640080" y="2971800"/>
            <a:ext cx="6492240" cy="960120"/>
          </a:xfrm>
          <a:prstGeom prst="rect">
            <a:avLst/>
          </a:prstGeom>
          <a:solidFill>
            <a:srgbClr val="1C7293"/>
          </a:solidFill>
          <a:ln/>
        </p:spPr>
      </p:sp>
      <p:sp>
        <p:nvSpPr>
          <p:cNvPr id="17" name="Text 15"/>
          <p:cNvSpPr/>
          <p:nvPr/>
        </p:nvSpPr>
        <p:spPr>
          <a:xfrm>
            <a:off x="822960" y="3044952"/>
            <a:ext cx="274320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CONCEPTUAL LEVEL</a:t>
            </a:r>
            <a:endParaRPr lang="en-US" sz="1600" dirty="0"/>
          </a:p>
        </p:txBody>
      </p:sp>
      <p:sp>
        <p:nvSpPr>
          <p:cNvPr id="18" name="Text 16"/>
          <p:cNvSpPr/>
          <p:nvPr/>
        </p:nvSpPr>
        <p:spPr>
          <a:xfrm>
            <a:off x="822960" y="3337560"/>
            <a:ext cx="6126480" cy="502920"/>
          </a:xfrm>
          <a:prstGeom prst="rect">
            <a:avLst/>
          </a:prstGeom>
          <a:noFill/>
          <a:ln/>
        </p:spPr>
        <p:txBody>
          <a:bodyPr wrap="square" rtlCol="0" anchor="ctr"/>
          <a:lstStyle/>
          <a:p>
            <a:pPr marL="0" indent="0">
              <a:buNone/>
            </a:pPr>
            <a:r>
              <a:rPr lang="en-US" sz="1600" dirty="0">
                <a:solidFill>
                  <a:srgbClr val="CFE8F0"/>
                </a:solidFill>
                <a:latin typeface="Calibri" pitchFamily="34" charset="0"/>
                <a:ea typeface="Calibri" pitchFamily="34" charset="-122"/>
                <a:cs typeface="Calibri" pitchFamily="34" charset="-120"/>
              </a:rPr>
              <a:t>Community logical schema — entities, relationships, constraints (independent of any single user view)</a:t>
            </a:r>
            <a:endParaRPr lang="en-US" sz="1600" dirty="0"/>
          </a:p>
        </p:txBody>
      </p:sp>
      <p:sp>
        <p:nvSpPr>
          <p:cNvPr id="19" name="Shape 17"/>
          <p:cNvSpPr/>
          <p:nvPr/>
        </p:nvSpPr>
        <p:spPr>
          <a:xfrm>
            <a:off x="3886200" y="3931920"/>
            <a:ext cx="0" cy="274320"/>
          </a:xfrm>
          <a:prstGeom prst="line">
            <a:avLst/>
          </a:prstGeom>
          <a:noFill/>
          <a:ln w="19050">
            <a:solidFill>
              <a:srgbClr val="5C7488"/>
            </a:solidFill>
            <a:prstDash val="solid"/>
          </a:ln>
        </p:spPr>
      </p:sp>
      <p:sp>
        <p:nvSpPr>
          <p:cNvPr id="20" name="Shape 18"/>
          <p:cNvSpPr/>
          <p:nvPr/>
        </p:nvSpPr>
        <p:spPr>
          <a:xfrm>
            <a:off x="640080" y="4206240"/>
            <a:ext cx="6492240" cy="1005840"/>
          </a:xfrm>
          <a:prstGeom prst="rect">
            <a:avLst/>
          </a:prstGeom>
          <a:solidFill>
            <a:srgbClr val="21295C"/>
          </a:solidFill>
          <a:ln/>
        </p:spPr>
      </p:sp>
      <p:sp>
        <p:nvSpPr>
          <p:cNvPr id="21" name="Text 19"/>
          <p:cNvSpPr/>
          <p:nvPr/>
        </p:nvSpPr>
        <p:spPr>
          <a:xfrm>
            <a:off x="822960" y="4279392"/>
            <a:ext cx="274320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INTERNAL LEVEL</a:t>
            </a:r>
            <a:endParaRPr lang="en-US" sz="1600" dirty="0"/>
          </a:p>
        </p:txBody>
      </p:sp>
      <p:sp>
        <p:nvSpPr>
          <p:cNvPr id="22" name="Text 20"/>
          <p:cNvSpPr/>
          <p:nvPr/>
        </p:nvSpPr>
        <p:spPr>
          <a:xfrm>
            <a:off x="822960" y="4572000"/>
            <a:ext cx="6126480" cy="548640"/>
          </a:xfrm>
          <a:prstGeom prst="rect">
            <a:avLst/>
          </a:prstGeom>
          <a:noFill/>
          <a:ln/>
        </p:spPr>
        <p:txBody>
          <a:bodyPr wrap="square" rtlCol="0" anchor="ctr"/>
          <a:lstStyle/>
          <a:p>
            <a:pPr marL="0" indent="0">
              <a:buNone/>
            </a:pPr>
            <a:r>
              <a:rPr lang="en-US" sz="1600" dirty="0">
                <a:solidFill>
                  <a:srgbClr val="CFE8F0"/>
                </a:solidFill>
                <a:latin typeface="Calibri" pitchFamily="34" charset="0"/>
                <a:ea typeface="Calibri" pitchFamily="34" charset="-122"/>
                <a:cs typeface="Calibri" pitchFamily="34" charset="-120"/>
              </a:rPr>
              <a:t>Physical storage — indexes, file organisation, access paths on disk</a:t>
            </a:r>
            <a:endParaRPr lang="en-US" sz="1600" dirty="0"/>
          </a:p>
        </p:txBody>
      </p:sp>
      <p:sp>
        <p:nvSpPr>
          <p:cNvPr id="23" name="Shape 21"/>
          <p:cNvSpPr/>
          <p:nvPr/>
        </p:nvSpPr>
        <p:spPr>
          <a:xfrm>
            <a:off x="640080" y="5394960"/>
            <a:ext cx="6492240" cy="457200"/>
          </a:xfrm>
          <a:prstGeom prst="roundRect">
            <a:avLst>
              <a:gd name="adj" fmla="val 14000"/>
            </a:avLst>
          </a:prstGeom>
          <a:solidFill>
            <a:srgbClr val="F3F8FA"/>
          </a:solidFill>
          <a:ln w="12700">
            <a:solidFill>
              <a:srgbClr val="DCE6EA"/>
            </a:solidFill>
            <a:prstDash val="solid"/>
          </a:ln>
        </p:spPr>
      </p:sp>
      <p:sp>
        <p:nvSpPr>
          <p:cNvPr id="24" name="Text 22"/>
          <p:cNvSpPr/>
          <p:nvPr/>
        </p:nvSpPr>
        <p:spPr>
          <a:xfrm>
            <a:off x="640080" y="5394960"/>
            <a:ext cx="6492240" cy="457200"/>
          </a:xfrm>
          <a:prstGeom prst="rect">
            <a:avLst/>
          </a:prstGeom>
          <a:noFill/>
          <a:ln/>
        </p:spPr>
        <p:txBody>
          <a:bodyPr wrap="square" rtlCol="0" anchor="ctr"/>
          <a:lstStyle/>
          <a:p>
            <a:pPr marL="0" indent="0" algn="ctr">
              <a:buNone/>
            </a:pPr>
            <a:r>
              <a:rPr lang="en-US" sz="1600" i="1" dirty="0">
                <a:solidFill>
                  <a:srgbClr val="5C7488"/>
                </a:solidFill>
                <a:latin typeface="Calibri" pitchFamily="34" charset="0"/>
                <a:ea typeface="Calibri" pitchFamily="34" charset="-122"/>
                <a:cs typeface="Calibri" pitchFamily="34" charset="-120"/>
              </a:rPr>
              <a:t>Two mapping layers (external↔conceptual, conceptual↔internal) give data independence</a:t>
            </a:r>
            <a:endParaRPr lang="en-US" sz="1600" dirty="0"/>
          </a:p>
        </p:txBody>
      </p:sp>
      <p:sp>
        <p:nvSpPr>
          <p:cNvPr id="25" name="Shape 23"/>
          <p:cNvSpPr/>
          <p:nvPr/>
        </p:nvSpPr>
        <p:spPr>
          <a:xfrm>
            <a:off x="7360920" y="1417320"/>
            <a:ext cx="4251960" cy="4572000"/>
          </a:xfrm>
          <a:prstGeom prst="roundRect">
            <a:avLst>
              <a:gd name="adj" fmla="val 1935"/>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26" name="Text 24"/>
          <p:cNvSpPr/>
          <p:nvPr/>
        </p:nvSpPr>
        <p:spPr>
          <a:xfrm>
            <a:off x="7635240" y="1645920"/>
            <a:ext cx="3657600" cy="32004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Why three levels?</a:t>
            </a:r>
            <a:endParaRPr lang="en-US" sz="1600" dirty="0"/>
          </a:p>
        </p:txBody>
      </p:sp>
      <p:sp>
        <p:nvSpPr>
          <p:cNvPr id="27" name="Text 25"/>
          <p:cNvSpPr/>
          <p:nvPr/>
        </p:nvSpPr>
        <p:spPr>
          <a:xfrm>
            <a:off x="7635240" y="2057400"/>
            <a:ext cx="3749040" cy="3794760"/>
          </a:xfrm>
          <a:prstGeom prst="rect">
            <a:avLst/>
          </a:prstGeom>
          <a:noFill/>
          <a:ln/>
        </p:spPr>
        <p:txBody>
          <a:bodyPr wrap="square" rtlCol="0" anchor="t"/>
          <a:lstStyle/>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External: what each user/application sees — tailored views hide irrelevant detail.</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Conceptual: the single shared logical design used by the whole organisation.</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Internal: how data is actually stored and indexed on disk for performance.</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Example: in a bank, a teller's view shows only balances; the manager's view adds branch performance data — both draw from one conceptual schema, stored internally as indexed files for fast lookup.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4 · REMEMBER</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Data Models</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05 / 12</a:t>
            </a:r>
            <a:endParaRPr lang="en-US" sz="1600" dirty="0"/>
          </a:p>
        </p:txBody>
      </p:sp>
      <p:sp>
        <p:nvSpPr>
          <p:cNvPr id="5" name="Shape 3"/>
          <p:cNvSpPr/>
          <p:nvPr/>
        </p:nvSpPr>
        <p:spPr>
          <a:xfrm>
            <a:off x="548640" y="1463040"/>
            <a:ext cx="3520440" cy="4892040"/>
          </a:xfrm>
          <a:prstGeom prst="roundRect">
            <a:avLst>
              <a:gd name="adj" fmla="val 2338"/>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6" name="Shape 4"/>
          <p:cNvSpPr/>
          <p:nvPr/>
        </p:nvSpPr>
        <p:spPr>
          <a:xfrm>
            <a:off x="548640" y="1463040"/>
            <a:ext cx="3520440" cy="502920"/>
          </a:xfrm>
          <a:prstGeom prst="rect">
            <a:avLst/>
          </a:prstGeom>
          <a:solidFill>
            <a:srgbClr val="065A82"/>
          </a:solidFill>
          <a:ln/>
        </p:spPr>
      </p:sp>
      <p:sp>
        <p:nvSpPr>
          <p:cNvPr id="7" name="Text 5"/>
          <p:cNvSpPr/>
          <p:nvPr/>
        </p:nvSpPr>
        <p:spPr>
          <a:xfrm>
            <a:off x="548640" y="1463040"/>
            <a:ext cx="352044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Hierarchical</a:t>
            </a:r>
            <a:endParaRPr lang="en-US" sz="1600" dirty="0"/>
          </a:p>
        </p:txBody>
      </p:sp>
      <p:sp>
        <p:nvSpPr>
          <p:cNvPr id="8" name="Shape 6"/>
          <p:cNvSpPr/>
          <p:nvPr/>
        </p:nvSpPr>
        <p:spPr>
          <a:xfrm>
            <a:off x="1783080" y="2148840"/>
            <a:ext cx="1051560" cy="411480"/>
          </a:xfrm>
          <a:prstGeom prst="rect">
            <a:avLst/>
          </a:prstGeom>
          <a:solidFill>
            <a:srgbClr val="065A82"/>
          </a:solidFill>
          <a:ln w="15875">
            <a:solidFill>
              <a:srgbClr val="21295C"/>
            </a:solidFill>
            <a:prstDash val="solid"/>
          </a:ln>
        </p:spPr>
      </p:sp>
      <p:sp>
        <p:nvSpPr>
          <p:cNvPr id="9" name="Text 7"/>
          <p:cNvSpPr/>
          <p:nvPr/>
        </p:nvSpPr>
        <p:spPr>
          <a:xfrm>
            <a:off x="1783080" y="2148840"/>
            <a:ext cx="105156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CEO</a:t>
            </a:r>
            <a:endParaRPr lang="en-US" sz="1600" dirty="0"/>
          </a:p>
        </p:txBody>
      </p:sp>
      <p:sp>
        <p:nvSpPr>
          <p:cNvPr id="10" name="Shape 8"/>
          <p:cNvSpPr/>
          <p:nvPr/>
        </p:nvSpPr>
        <p:spPr>
          <a:xfrm>
            <a:off x="868680" y="2926080"/>
            <a:ext cx="1051560" cy="411480"/>
          </a:xfrm>
          <a:prstGeom prst="rect">
            <a:avLst/>
          </a:prstGeom>
          <a:solidFill>
            <a:srgbClr val="065A82"/>
          </a:solidFill>
          <a:ln w="15875">
            <a:solidFill>
              <a:srgbClr val="21295C"/>
            </a:solidFill>
            <a:prstDash val="solid"/>
          </a:ln>
        </p:spPr>
      </p:sp>
      <p:sp>
        <p:nvSpPr>
          <p:cNvPr id="11" name="Text 9"/>
          <p:cNvSpPr/>
          <p:nvPr/>
        </p:nvSpPr>
        <p:spPr>
          <a:xfrm>
            <a:off x="868680" y="2926080"/>
            <a:ext cx="105156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Manager A</a:t>
            </a:r>
            <a:endParaRPr lang="en-US" sz="1600" dirty="0"/>
          </a:p>
        </p:txBody>
      </p:sp>
      <p:sp>
        <p:nvSpPr>
          <p:cNvPr id="12" name="Shape 10"/>
          <p:cNvSpPr/>
          <p:nvPr/>
        </p:nvSpPr>
        <p:spPr>
          <a:xfrm>
            <a:off x="2697480" y="2926080"/>
            <a:ext cx="1051560" cy="411480"/>
          </a:xfrm>
          <a:prstGeom prst="rect">
            <a:avLst/>
          </a:prstGeom>
          <a:solidFill>
            <a:srgbClr val="065A82"/>
          </a:solidFill>
          <a:ln w="15875">
            <a:solidFill>
              <a:srgbClr val="21295C"/>
            </a:solidFill>
            <a:prstDash val="solid"/>
          </a:ln>
        </p:spPr>
      </p:sp>
      <p:sp>
        <p:nvSpPr>
          <p:cNvPr id="13" name="Text 11"/>
          <p:cNvSpPr/>
          <p:nvPr/>
        </p:nvSpPr>
        <p:spPr>
          <a:xfrm>
            <a:off x="2697480" y="2926080"/>
            <a:ext cx="105156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Manager B</a:t>
            </a:r>
            <a:endParaRPr lang="en-US" sz="1600" dirty="0"/>
          </a:p>
        </p:txBody>
      </p:sp>
      <p:sp>
        <p:nvSpPr>
          <p:cNvPr id="14" name="Shape 12"/>
          <p:cNvSpPr/>
          <p:nvPr/>
        </p:nvSpPr>
        <p:spPr>
          <a:xfrm flipH="1">
            <a:off x="1394460" y="2560320"/>
            <a:ext cx="914400" cy="365760"/>
          </a:xfrm>
          <a:prstGeom prst="line">
            <a:avLst/>
          </a:prstGeom>
          <a:noFill/>
          <a:ln w="19050">
            <a:solidFill>
              <a:srgbClr val="5C7488"/>
            </a:solidFill>
            <a:prstDash val="solid"/>
          </a:ln>
        </p:spPr>
      </p:sp>
      <p:sp>
        <p:nvSpPr>
          <p:cNvPr id="15" name="Shape 13"/>
          <p:cNvSpPr/>
          <p:nvPr/>
        </p:nvSpPr>
        <p:spPr>
          <a:xfrm>
            <a:off x="2308860" y="2560320"/>
            <a:ext cx="914400" cy="365760"/>
          </a:xfrm>
          <a:prstGeom prst="line">
            <a:avLst/>
          </a:prstGeom>
          <a:noFill/>
          <a:ln w="19050">
            <a:solidFill>
              <a:srgbClr val="5C7488"/>
            </a:solidFill>
            <a:prstDash val="solid"/>
          </a:ln>
        </p:spPr>
      </p:sp>
      <p:sp>
        <p:nvSpPr>
          <p:cNvPr id="16" name="Text 14"/>
          <p:cNvSpPr/>
          <p:nvPr/>
        </p:nvSpPr>
        <p:spPr>
          <a:xfrm>
            <a:off x="777240" y="3566160"/>
            <a:ext cx="3063240" cy="685800"/>
          </a:xfrm>
          <a:prstGeom prst="rect">
            <a:avLst/>
          </a:prstGeom>
          <a:noFill/>
          <a:ln/>
        </p:spPr>
        <p:txBody>
          <a:bodyPr wrap="square" rtlCol="0" anchor="ctr"/>
          <a:lstStyle/>
          <a:p>
            <a:pPr marL="0" indent="0">
              <a:lnSpc>
                <a:spcPct val="115000"/>
              </a:lnSpc>
              <a:buNone/>
            </a:pPr>
            <a:r>
              <a:rPr lang="en-US" sz="1600" dirty="0">
                <a:solidFill>
                  <a:srgbClr val="16232E"/>
                </a:solidFill>
                <a:latin typeface="Calibri" pitchFamily="34" charset="0"/>
                <a:ea typeface="Calibri" pitchFamily="34" charset="-122"/>
                <a:cs typeface="Calibri" pitchFamily="34" charset="-120"/>
              </a:rPr>
              <a:t>One parent → many children (tree structure, single path to each record)</a:t>
            </a:r>
            <a:endParaRPr lang="en-US" sz="1600" dirty="0"/>
          </a:p>
        </p:txBody>
      </p:sp>
      <p:sp>
        <p:nvSpPr>
          <p:cNvPr id="17" name="Shape 15"/>
          <p:cNvSpPr/>
          <p:nvPr/>
        </p:nvSpPr>
        <p:spPr>
          <a:xfrm>
            <a:off x="777240" y="4297680"/>
            <a:ext cx="3063240" cy="0"/>
          </a:xfrm>
          <a:prstGeom prst="line">
            <a:avLst/>
          </a:prstGeom>
          <a:noFill/>
          <a:ln w="12700">
            <a:solidFill>
              <a:srgbClr val="DCE6EA"/>
            </a:solidFill>
            <a:prstDash val="solid"/>
          </a:ln>
        </p:spPr>
      </p:sp>
      <p:sp>
        <p:nvSpPr>
          <p:cNvPr id="18" name="Text 16"/>
          <p:cNvSpPr/>
          <p:nvPr/>
        </p:nvSpPr>
        <p:spPr>
          <a:xfrm>
            <a:off x="777240" y="4389120"/>
            <a:ext cx="3063240" cy="1005840"/>
          </a:xfrm>
          <a:prstGeom prst="rect">
            <a:avLst/>
          </a:prstGeom>
          <a:noFill/>
          <a:ln/>
        </p:spPr>
        <p:txBody>
          <a:bodyPr wrap="square" rtlCol="0" anchor="ctr"/>
          <a:lstStyle/>
          <a:p>
            <a:pPr marL="0" indent="0">
              <a:lnSpc>
                <a:spcPct val="115000"/>
              </a:lnSpc>
              <a:buNone/>
            </a:pPr>
            <a:r>
              <a:rPr lang="en-US" sz="1600" i="1" dirty="0">
                <a:solidFill>
                  <a:srgbClr val="5C7488"/>
                </a:solidFill>
                <a:latin typeface="Calibri" pitchFamily="34" charset="0"/>
                <a:ea typeface="Calibri" pitchFamily="34" charset="-122"/>
                <a:cs typeface="Calibri" pitchFamily="34" charset="-120"/>
              </a:rPr>
              <a:t>Industry use: IBM IMS — early airline &amp; banking systems; today's XML / file-directory trees.</a:t>
            </a:r>
            <a:endParaRPr lang="en-US" sz="1600" dirty="0"/>
          </a:p>
        </p:txBody>
      </p:sp>
      <p:sp>
        <p:nvSpPr>
          <p:cNvPr id="19" name="Shape 17"/>
          <p:cNvSpPr/>
          <p:nvPr/>
        </p:nvSpPr>
        <p:spPr>
          <a:xfrm>
            <a:off x="4297680" y="1463040"/>
            <a:ext cx="3520440" cy="4892040"/>
          </a:xfrm>
          <a:prstGeom prst="roundRect">
            <a:avLst>
              <a:gd name="adj" fmla="val 2338"/>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20" name="Shape 18"/>
          <p:cNvSpPr/>
          <p:nvPr/>
        </p:nvSpPr>
        <p:spPr>
          <a:xfrm>
            <a:off x="4297680" y="1463040"/>
            <a:ext cx="3520440" cy="502920"/>
          </a:xfrm>
          <a:prstGeom prst="rect">
            <a:avLst/>
          </a:prstGeom>
          <a:solidFill>
            <a:srgbClr val="1C7293"/>
          </a:solidFill>
          <a:ln/>
        </p:spPr>
      </p:sp>
      <p:sp>
        <p:nvSpPr>
          <p:cNvPr id="21" name="Text 19"/>
          <p:cNvSpPr/>
          <p:nvPr/>
        </p:nvSpPr>
        <p:spPr>
          <a:xfrm>
            <a:off x="4297680" y="1463040"/>
            <a:ext cx="352044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Network</a:t>
            </a:r>
            <a:endParaRPr lang="en-US" sz="1600" dirty="0"/>
          </a:p>
        </p:txBody>
      </p:sp>
      <p:sp>
        <p:nvSpPr>
          <p:cNvPr id="22" name="Shape 20"/>
          <p:cNvSpPr/>
          <p:nvPr/>
        </p:nvSpPr>
        <p:spPr>
          <a:xfrm>
            <a:off x="4572000" y="2148840"/>
            <a:ext cx="1005840" cy="384048"/>
          </a:xfrm>
          <a:prstGeom prst="rect">
            <a:avLst/>
          </a:prstGeom>
          <a:solidFill>
            <a:srgbClr val="1C7293"/>
          </a:solidFill>
          <a:ln w="15875">
            <a:solidFill>
              <a:srgbClr val="21295C"/>
            </a:solidFill>
            <a:prstDash val="solid"/>
          </a:ln>
        </p:spPr>
      </p:sp>
      <p:sp>
        <p:nvSpPr>
          <p:cNvPr id="23" name="Text 21"/>
          <p:cNvSpPr/>
          <p:nvPr/>
        </p:nvSpPr>
        <p:spPr>
          <a:xfrm>
            <a:off x="4572000" y="2148840"/>
            <a:ext cx="100584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Supplier</a:t>
            </a:r>
            <a:endParaRPr lang="en-US" sz="1600" dirty="0"/>
          </a:p>
        </p:txBody>
      </p:sp>
      <p:sp>
        <p:nvSpPr>
          <p:cNvPr id="24" name="Shape 22"/>
          <p:cNvSpPr/>
          <p:nvPr/>
        </p:nvSpPr>
        <p:spPr>
          <a:xfrm>
            <a:off x="6492240" y="2148840"/>
            <a:ext cx="1005840" cy="384048"/>
          </a:xfrm>
          <a:prstGeom prst="rect">
            <a:avLst/>
          </a:prstGeom>
          <a:solidFill>
            <a:srgbClr val="1C7293"/>
          </a:solidFill>
          <a:ln w="15875">
            <a:solidFill>
              <a:srgbClr val="21295C"/>
            </a:solidFill>
            <a:prstDash val="solid"/>
          </a:ln>
        </p:spPr>
      </p:sp>
      <p:sp>
        <p:nvSpPr>
          <p:cNvPr id="25" name="Text 23"/>
          <p:cNvSpPr/>
          <p:nvPr/>
        </p:nvSpPr>
        <p:spPr>
          <a:xfrm>
            <a:off x="6492240" y="2148840"/>
            <a:ext cx="100584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Warehouse</a:t>
            </a:r>
            <a:endParaRPr lang="en-US" sz="1600" dirty="0"/>
          </a:p>
        </p:txBody>
      </p:sp>
      <p:sp>
        <p:nvSpPr>
          <p:cNvPr id="26" name="Shape 24"/>
          <p:cNvSpPr/>
          <p:nvPr/>
        </p:nvSpPr>
        <p:spPr>
          <a:xfrm>
            <a:off x="5532120" y="2971800"/>
            <a:ext cx="1005840" cy="384048"/>
          </a:xfrm>
          <a:prstGeom prst="rect">
            <a:avLst/>
          </a:prstGeom>
          <a:solidFill>
            <a:srgbClr val="1C7293"/>
          </a:solidFill>
          <a:ln w="15875">
            <a:solidFill>
              <a:srgbClr val="21295C"/>
            </a:solidFill>
            <a:prstDash val="solid"/>
          </a:ln>
        </p:spPr>
      </p:sp>
      <p:sp>
        <p:nvSpPr>
          <p:cNvPr id="27" name="Text 25"/>
          <p:cNvSpPr/>
          <p:nvPr/>
        </p:nvSpPr>
        <p:spPr>
          <a:xfrm>
            <a:off x="5532120" y="2971800"/>
            <a:ext cx="100584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Part</a:t>
            </a:r>
            <a:endParaRPr lang="en-US" sz="1600" dirty="0"/>
          </a:p>
        </p:txBody>
      </p:sp>
      <p:sp>
        <p:nvSpPr>
          <p:cNvPr id="28" name="Shape 26"/>
          <p:cNvSpPr/>
          <p:nvPr/>
        </p:nvSpPr>
        <p:spPr>
          <a:xfrm>
            <a:off x="5074920" y="2532888"/>
            <a:ext cx="777240" cy="438912"/>
          </a:xfrm>
          <a:prstGeom prst="line">
            <a:avLst/>
          </a:prstGeom>
          <a:noFill/>
          <a:ln w="19050">
            <a:solidFill>
              <a:srgbClr val="5C7488"/>
            </a:solidFill>
            <a:prstDash val="solid"/>
          </a:ln>
        </p:spPr>
      </p:sp>
      <p:sp>
        <p:nvSpPr>
          <p:cNvPr id="29" name="Shape 27"/>
          <p:cNvSpPr/>
          <p:nvPr/>
        </p:nvSpPr>
        <p:spPr>
          <a:xfrm flipH="1">
            <a:off x="6217920" y="2532888"/>
            <a:ext cx="777240" cy="438912"/>
          </a:xfrm>
          <a:prstGeom prst="line">
            <a:avLst/>
          </a:prstGeom>
          <a:noFill/>
          <a:ln w="19050">
            <a:solidFill>
              <a:srgbClr val="5C7488"/>
            </a:solidFill>
            <a:prstDash val="solid"/>
          </a:ln>
        </p:spPr>
      </p:sp>
      <p:sp>
        <p:nvSpPr>
          <p:cNvPr id="30" name="Shape 28"/>
          <p:cNvSpPr/>
          <p:nvPr/>
        </p:nvSpPr>
        <p:spPr>
          <a:xfrm>
            <a:off x="5577840" y="2340864"/>
            <a:ext cx="914400" cy="0"/>
          </a:xfrm>
          <a:prstGeom prst="line">
            <a:avLst/>
          </a:prstGeom>
          <a:noFill/>
          <a:ln w="19050">
            <a:solidFill>
              <a:srgbClr val="5C7488"/>
            </a:solidFill>
            <a:prstDash val="solid"/>
          </a:ln>
        </p:spPr>
      </p:sp>
      <p:sp>
        <p:nvSpPr>
          <p:cNvPr id="31" name="Text 29"/>
          <p:cNvSpPr/>
          <p:nvPr/>
        </p:nvSpPr>
        <p:spPr>
          <a:xfrm>
            <a:off x="4526280" y="3566160"/>
            <a:ext cx="3063240" cy="685800"/>
          </a:xfrm>
          <a:prstGeom prst="rect">
            <a:avLst/>
          </a:prstGeom>
          <a:noFill/>
          <a:ln/>
        </p:spPr>
        <p:txBody>
          <a:bodyPr wrap="square" rtlCol="0" anchor="ctr"/>
          <a:lstStyle/>
          <a:p>
            <a:pPr marL="0" indent="0">
              <a:lnSpc>
                <a:spcPct val="115000"/>
              </a:lnSpc>
              <a:buNone/>
            </a:pPr>
            <a:r>
              <a:rPr lang="en-US" sz="1600" dirty="0">
                <a:solidFill>
                  <a:srgbClr val="16232E"/>
                </a:solidFill>
                <a:latin typeface="Calibri" pitchFamily="34" charset="0"/>
                <a:ea typeface="Calibri" pitchFamily="34" charset="-122"/>
                <a:cs typeface="Calibri" pitchFamily="34" charset="-120"/>
              </a:rPr>
              <a:t>Records linked in a graph — a child can have multiple parents (many-to-many)</a:t>
            </a:r>
            <a:endParaRPr lang="en-US" sz="1600" dirty="0"/>
          </a:p>
        </p:txBody>
      </p:sp>
      <p:sp>
        <p:nvSpPr>
          <p:cNvPr id="32" name="Shape 30"/>
          <p:cNvSpPr/>
          <p:nvPr/>
        </p:nvSpPr>
        <p:spPr>
          <a:xfrm>
            <a:off x="4526280" y="4297680"/>
            <a:ext cx="3063240" cy="0"/>
          </a:xfrm>
          <a:prstGeom prst="line">
            <a:avLst/>
          </a:prstGeom>
          <a:noFill/>
          <a:ln w="12700">
            <a:solidFill>
              <a:srgbClr val="DCE6EA"/>
            </a:solidFill>
            <a:prstDash val="solid"/>
          </a:ln>
        </p:spPr>
      </p:sp>
      <p:sp>
        <p:nvSpPr>
          <p:cNvPr id="33" name="Text 31"/>
          <p:cNvSpPr/>
          <p:nvPr/>
        </p:nvSpPr>
        <p:spPr>
          <a:xfrm>
            <a:off x="4526280" y="4389120"/>
            <a:ext cx="3063240" cy="1005840"/>
          </a:xfrm>
          <a:prstGeom prst="rect">
            <a:avLst/>
          </a:prstGeom>
          <a:noFill/>
          <a:ln/>
        </p:spPr>
        <p:txBody>
          <a:bodyPr wrap="square" rtlCol="0" anchor="ctr"/>
          <a:lstStyle/>
          <a:p>
            <a:pPr marL="0" indent="0">
              <a:lnSpc>
                <a:spcPct val="115000"/>
              </a:lnSpc>
              <a:buNone/>
            </a:pPr>
            <a:r>
              <a:rPr lang="en-US" sz="1600" i="1" dirty="0">
                <a:solidFill>
                  <a:srgbClr val="5C7488"/>
                </a:solidFill>
                <a:latin typeface="Calibri" pitchFamily="34" charset="0"/>
                <a:ea typeface="Calibri" pitchFamily="34" charset="-122"/>
                <a:cs typeface="Calibri" pitchFamily="34" charset="-120"/>
              </a:rPr>
              <a:t>Industry use: IDMS / CODASYL — legacy flight-reservation and inventory systems needing many-to-many links.</a:t>
            </a:r>
            <a:endParaRPr lang="en-US" sz="1600" dirty="0"/>
          </a:p>
        </p:txBody>
      </p:sp>
      <p:sp>
        <p:nvSpPr>
          <p:cNvPr id="34" name="Shape 32"/>
          <p:cNvSpPr/>
          <p:nvPr/>
        </p:nvSpPr>
        <p:spPr>
          <a:xfrm>
            <a:off x="8046720" y="1463040"/>
            <a:ext cx="3520440" cy="4892040"/>
          </a:xfrm>
          <a:prstGeom prst="roundRect">
            <a:avLst>
              <a:gd name="adj" fmla="val 2338"/>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35" name="Shape 33"/>
          <p:cNvSpPr/>
          <p:nvPr/>
        </p:nvSpPr>
        <p:spPr>
          <a:xfrm>
            <a:off x="8046720" y="1463040"/>
            <a:ext cx="3520440" cy="502920"/>
          </a:xfrm>
          <a:prstGeom prst="rect">
            <a:avLst/>
          </a:prstGeom>
          <a:solidFill>
            <a:srgbClr val="21295C"/>
          </a:solidFill>
          <a:ln/>
        </p:spPr>
      </p:sp>
      <p:sp>
        <p:nvSpPr>
          <p:cNvPr id="36" name="Text 34"/>
          <p:cNvSpPr/>
          <p:nvPr/>
        </p:nvSpPr>
        <p:spPr>
          <a:xfrm>
            <a:off x="8046720" y="1463040"/>
            <a:ext cx="352044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Relational</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3380349576"/>
              </p:ext>
            </p:extLst>
          </p:nvPr>
        </p:nvGraphicFramePr>
        <p:xfrm>
          <a:off x="8321040" y="2148840"/>
          <a:ext cx="2971800" cy="960120"/>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200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2129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2129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Dept</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2004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Asha</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IT</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Ravi</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8" name="Text 35"/>
          <p:cNvSpPr/>
          <p:nvPr/>
        </p:nvSpPr>
        <p:spPr>
          <a:xfrm>
            <a:off x="8275320" y="3566160"/>
            <a:ext cx="3063240" cy="685800"/>
          </a:xfrm>
          <a:prstGeom prst="rect">
            <a:avLst/>
          </a:prstGeom>
          <a:noFill/>
          <a:ln/>
        </p:spPr>
        <p:txBody>
          <a:bodyPr wrap="square" rtlCol="0" anchor="ctr"/>
          <a:lstStyle/>
          <a:p>
            <a:pPr marL="0" indent="0">
              <a:lnSpc>
                <a:spcPct val="115000"/>
              </a:lnSpc>
              <a:buNone/>
            </a:pPr>
            <a:r>
              <a:rPr lang="en-US" sz="1600" dirty="0">
                <a:solidFill>
                  <a:srgbClr val="16232E"/>
                </a:solidFill>
                <a:latin typeface="Calibri" pitchFamily="34" charset="0"/>
                <a:ea typeface="Calibri" pitchFamily="34" charset="-122"/>
                <a:cs typeface="Calibri" pitchFamily="34" charset="-120"/>
              </a:rPr>
              <a:t>Data stored as rows &amp; columns in related tables, linked by keys</a:t>
            </a:r>
            <a:endParaRPr lang="en-US" sz="1600" dirty="0"/>
          </a:p>
        </p:txBody>
      </p:sp>
      <p:sp>
        <p:nvSpPr>
          <p:cNvPr id="39" name="Shape 36"/>
          <p:cNvSpPr/>
          <p:nvPr/>
        </p:nvSpPr>
        <p:spPr>
          <a:xfrm>
            <a:off x="8275320" y="4297680"/>
            <a:ext cx="3063240" cy="0"/>
          </a:xfrm>
          <a:prstGeom prst="line">
            <a:avLst/>
          </a:prstGeom>
          <a:noFill/>
          <a:ln w="12700">
            <a:solidFill>
              <a:srgbClr val="DCE6EA"/>
            </a:solidFill>
            <a:prstDash val="solid"/>
          </a:ln>
        </p:spPr>
      </p:sp>
      <p:sp>
        <p:nvSpPr>
          <p:cNvPr id="40" name="Text 37"/>
          <p:cNvSpPr/>
          <p:nvPr/>
        </p:nvSpPr>
        <p:spPr>
          <a:xfrm>
            <a:off x="8275320" y="4389120"/>
            <a:ext cx="3063240" cy="1005840"/>
          </a:xfrm>
          <a:prstGeom prst="rect">
            <a:avLst/>
          </a:prstGeom>
          <a:noFill/>
          <a:ln/>
        </p:spPr>
        <p:txBody>
          <a:bodyPr wrap="square" rtlCol="0" anchor="ctr"/>
          <a:lstStyle/>
          <a:p>
            <a:pPr marL="0" indent="0">
              <a:lnSpc>
                <a:spcPct val="115000"/>
              </a:lnSpc>
              <a:buNone/>
            </a:pPr>
            <a:r>
              <a:rPr lang="en-US" sz="1600" i="1" dirty="0">
                <a:solidFill>
                  <a:srgbClr val="5C7488"/>
                </a:solidFill>
                <a:latin typeface="Calibri" pitchFamily="34" charset="0"/>
                <a:ea typeface="Calibri" pitchFamily="34" charset="-122"/>
                <a:cs typeface="Calibri" pitchFamily="34" charset="-120"/>
              </a:rPr>
              <a:t>Industry use: Oracle, MySQL, PostgreSQL — the standard for banking, retail, ERP and almost all modern apps.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5 · UNDERSTAND</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ER Diagram — Online Library System</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06 / 12</a:t>
            </a:r>
            <a:endParaRPr lang="en-US" sz="1600" dirty="0"/>
          </a:p>
        </p:txBody>
      </p:sp>
      <p:sp>
        <p:nvSpPr>
          <p:cNvPr id="5" name="Shape 3"/>
          <p:cNvSpPr/>
          <p:nvPr/>
        </p:nvSpPr>
        <p:spPr>
          <a:xfrm>
            <a:off x="640080" y="2103120"/>
            <a:ext cx="1554480" cy="548640"/>
          </a:xfrm>
          <a:prstGeom prst="rect">
            <a:avLst/>
          </a:prstGeom>
          <a:solidFill>
            <a:srgbClr val="065A82"/>
          </a:solidFill>
          <a:ln w="15875">
            <a:solidFill>
              <a:srgbClr val="21295C"/>
            </a:solidFill>
            <a:prstDash val="solid"/>
          </a:ln>
        </p:spPr>
      </p:sp>
      <p:sp>
        <p:nvSpPr>
          <p:cNvPr id="6" name="Text 4"/>
          <p:cNvSpPr/>
          <p:nvPr/>
        </p:nvSpPr>
        <p:spPr>
          <a:xfrm>
            <a:off x="640080" y="2103120"/>
            <a:ext cx="155448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AUTHOR</a:t>
            </a:r>
            <a:endParaRPr lang="en-US" sz="1600" dirty="0"/>
          </a:p>
        </p:txBody>
      </p:sp>
      <p:sp>
        <p:nvSpPr>
          <p:cNvPr id="7" name="Shape 5"/>
          <p:cNvSpPr/>
          <p:nvPr/>
        </p:nvSpPr>
        <p:spPr>
          <a:xfrm>
            <a:off x="656875" y="3758184"/>
            <a:ext cx="1554480" cy="548640"/>
          </a:xfrm>
          <a:prstGeom prst="rect">
            <a:avLst/>
          </a:prstGeom>
          <a:solidFill>
            <a:srgbClr val="065A82"/>
          </a:solidFill>
          <a:ln w="15875">
            <a:solidFill>
              <a:srgbClr val="21295C"/>
            </a:solidFill>
            <a:prstDash val="solid"/>
          </a:ln>
        </p:spPr>
      </p:sp>
      <p:sp>
        <p:nvSpPr>
          <p:cNvPr id="8" name="Text 6"/>
          <p:cNvSpPr/>
          <p:nvPr/>
        </p:nvSpPr>
        <p:spPr>
          <a:xfrm>
            <a:off x="640080" y="3749040"/>
            <a:ext cx="155448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BOOK</a:t>
            </a:r>
            <a:endParaRPr lang="en-US" sz="1600" dirty="0"/>
          </a:p>
        </p:txBody>
      </p:sp>
      <p:sp>
        <p:nvSpPr>
          <p:cNvPr id="9" name="Shape 7"/>
          <p:cNvSpPr/>
          <p:nvPr/>
        </p:nvSpPr>
        <p:spPr>
          <a:xfrm>
            <a:off x="5120640" y="2103120"/>
            <a:ext cx="1554480" cy="548640"/>
          </a:xfrm>
          <a:prstGeom prst="rect">
            <a:avLst/>
          </a:prstGeom>
          <a:solidFill>
            <a:srgbClr val="065A82"/>
          </a:solidFill>
          <a:ln w="15875">
            <a:solidFill>
              <a:srgbClr val="21295C"/>
            </a:solidFill>
            <a:prstDash val="solid"/>
          </a:ln>
        </p:spPr>
      </p:sp>
      <p:sp>
        <p:nvSpPr>
          <p:cNvPr id="10" name="Text 8"/>
          <p:cNvSpPr/>
          <p:nvPr/>
        </p:nvSpPr>
        <p:spPr>
          <a:xfrm>
            <a:off x="5120640" y="2103120"/>
            <a:ext cx="155448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LIBRARIAN</a:t>
            </a:r>
            <a:endParaRPr lang="en-US" sz="1600" dirty="0"/>
          </a:p>
        </p:txBody>
      </p:sp>
      <p:sp>
        <p:nvSpPr>
          <p:cNvPr id="11" name="Shape 9"/>
          <p:cNvSpPr/>
          <p:nvPr/>
        </p:nvSpPr>
        <p:spPr>
          <a:xfrm>
            <a:off x="5120640" y="3749040"/>
            <a:ext cx="1554480" cy="548640"/>
          </a:xfrm>
          <a:prstGeom prst="rect">
            <a:avLst/>
          </a:prstGeom>
          <a:solidFill>
            <a:srgbClr val="065A82"/>
          </a:solidFill>
          <a:ln w="15875">
            <a:solidFill>
              <a:srgbClr val="21295C"/>
            </a:solidFill>
            <a:prstDash val="solid"/>
          </a:ln>
        </p:spPr>
      </p:sp>
      <p:sp>
        <p:nvSpPr>
          <p:cNvPr id="12" name="Text 10"/>
          <p:cNvSpPr/>
          <p:nvPr/>
        </p:nvSpPr>
        <p:spPr>
          <a:xfrm>
            <a:off x="5120640" y="3749040"/>
            <a:ext cx="155448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MEMBER</a:t>
            </a:r>
            <a:endParaRPr lang="en-US" sz="1600" dirty="0"/>
          </a:p>
        </p:txBody>
      </p:sp>
      <p:sp>
        <p:nvSpPr>
          <p:cNvPr id="13" name="Shape 11"/>
          <p:cNvSpPr/>
          <p:nvPr/>
        </p:nvSpPr>
        <p:spPr>
          <a:xfrm>
            <a:off x="9601200" y="2926080"/>
            <a:ext cx="1737360" cy="548640"/>
          </a:xfrm>
          <a:prstGeom prst="rect">
            <a:avLst/>
          </a:prstGeom>
          <a:solidFill>
            <a:srgbClr val="065A82"/>
          </a:solidFill>
          <a:ln w="15875">
            <a:solidFill>
              <a:srgbClr val="21295C"/>
            </a:solidFill>
            <a:prstDash val="solid"/>
          </a:ln>
        </p:spPr>
      </p:sp>
      <p:sp>
        <p:nvSpPr>
          <p:cNvPr id="14" name="Text 12"/>
          <p:cNvSpPr/>
          <p:nvPr/>
        </p:nvSpPr>
        <p:spPr>
          <a:xfrm>
            <a:off x="9601200" y="2926080"/>
            <a:ext cx="173736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LOAN / ISSUE</a:t>
            </a:r>
            <a:endParaRPr lang="en-US" sz="1600" dirty="0"/>
          </a:p>
        </p:txBody>
      </p:sp>
      <p:sp>
        <p:nvSpPr>
          <p:cNvPr id="15" name="Shape 13"/>
          <p:cNvSpPr/>
          <p:nvPr/>
        </p:nvSpPr>
        <p:spPr>
          <a:xfrm>
            <a:off x="777240" y="2971800"/>
            <a:ext cx="1280160" cy="548640"/>
          </a:xfrm>
          <a:prstGeom prst="diamond">
            <a:avLst/>
          </a:prstGeom>
          <a:solidFill>
            <a:srgbClr val="F2B134"/>
          </a:solidFill>
          <a:ln w="12700">
            <a:solidFill>
              <a:srgbClr val="21295C"/>
            </a:solidFill>
            <a:prstDash val="solid"/>
          </a:ln>
        </p:spPr>
      </p:sp>
      <p:sp>
        <p:nvSpPr>
          <p:cNvPr id="16" name="Text 14"/>
          <p:cNvSpPr/>
          <p:nvPr/>
        </p:nvSpPr>
        <p:spPr>
          <a:xfrm>
            <a:off x="548640" y="2971800"/>
            <a:ext cx="1737360" cy="54864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WRITES</a:t>
            </a:r>
            <a:endParaRPr lang="en-US" sz="1600" dirty="0"/>
          </a:p>
        </p:txBody>
      </p:sp>
      <p:sp>
        <p:nvSpPr>
          <p:cNvPr id="17" name="Shape 15"/>
          <p:cNvSpPr/>
          <p:nvPr/>
        </p:nvSpPr>
        <p:spPr>
          <a:xfrm>
            <a:off x="5166360" y="2971800"/>
            <a:ext cx="1463040" cy="548640"/>
          </a:xfrm>
          <a:prstGeom prst="diamond">
            <a:avLst/>
          </a:prstGeom>
          <a:solidFill>
            <a:srgbClr val="F2B134"/>
          </a:solidFill>
          <a:ln w="12700">
            <a:solidFill>
              <a:srgbClr val="21295C"/>
            </a:solidFill>
            <a:prstDash val="solid"/>
          </a:ln>
        </p:spPr>
      </p:sp>
      <p:sp>
        <p:nvSpPr>
          <p:cNvPr id="18" name="Text 16"/>
          <p:cNvSpPr/>
          <p:nvPr/>
        </p:nvSpPr>
        <p:spPr>
          <a:xfrm>
            <a:off x="4937760" y="2971800"/>
            <a:ext cx="1920240" cy="54864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MANAGES</a:t>
            </a:r>
            <a:endParaRPr lang="en-US" sz="1600" dirty="0"/>
          </a:p>
        </p:txBody>
      </p:sp>
      <p:sp>
        <p:nvSpPr>
          <p:cNvPr id="19" name="Shape 17"/>
          <p:cNvSpPr/>
          <p:nvPr/>
        </p:nvSpPr>
        <p:spPr>
          <a:xfrm>
            <a:off x="7452360" y="3474720"/>
            <a:ext cx="1463040" cy="548640"/>
          </a:xfrm>
          <a:prstGeom prst="diamond">
            <a:avLst/>
          </a:prstGeom>
          <a:solidFill>
            <a:srgbClr val="F2B134"/>
          </a:solidFill>
          <a:ln w="12700">
            <a:solidFill>
              <a:srgbClr val="21295C"/>
            </a:solidFill>
            <a:prstDash val="solid"/>
          </a:ln>
        </p:spPr>
      </p:sp>
      <p:sp>
        <p:nvSpPr>
          <p:cNvPr id="20" name="Text 18"/>
          <p:cNvSpPr/>
          <p:nvPr/>
        </p:nvSpPr>
        <p:spPr>
          <a:xfrm>
            <a:off x="7223760" y="3474720"/>
            <a:ext cx="1920240" cy="54864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BORROWS</a:t>
            </a:r>
            <a:endParaRPr lang="en-US" sz="1600" dirty="0"/>
          </a:p>
        </p:txBody>
      </p:sp>
      <p:sp>
        <p:nvSpPr>
          <p:cNvPr id="21" name="Shape 19"/>
          <p:cNvSpPr/>
          <p:nvPr/>
        </p:nvSpPr>
        <p:spPr>
          <a:xfrm>
            <a:off x="1417320" y="2651760"/>
            <a:ext cx="0" cy="320040"/>
          </a:xfrm>
          <a:prstGeom prst="line">
            <a:avLst/>
          </a:prstGeom>
          <a:noFill/>
          <a:ln w="19050">
            <a:solidFill>
              <a:srgbClr val="21295C"/>
            </a:solidFill>
            <a:prstDash val="solid"/>
          </a:ln>
        </p:spPr>
      </p:sp>
      <p:sp>
        <p:nvSpPr>
          <p:cNvPr id="22" name="Shape 20"/>
          <p:cNvSpPr/>
          <p:nvPr/>
        </p:nvSpPr>
        <p:spPr>
          <a:xfrm>
            <a:off x="1417320" y="3520440"/>
            <a:ext cx="0" cy="228600"/>
          </a:xfrm>
          <a:prstGeom prst="line">
            <a:avLst/>
          </a:prstGeom>
          <a:noFill/>
          <a:ln w="19050">
            <a:solidFill>
              <a:srgbClr val="21295C"/>
            </a:solidFill>
            <a:prstDash val="solid"/>
          </a:ln>
        </p:spPr>
      </p:sp>
      <p:sp>
        <p:nvSpPr>
          <p:cNvPr id="23" name="Shape 21"/>
          <p:cNvSpPr/>
          <p:nvPr/>
        </p:nvSpPr>
        <p:spPr>
          <a:xfrm>
            <a:off x="5897880" y="2651760"/>
            <a:ext cx="0" cy="320040"/>
          </a:xfrm>
          <a:prstGeom prst="line">
            <a:avLst/>
          </a:prstGeom>
          <a:noFill/>
          <a:ln w="19050">
            <a:solidFill>
              <a:srgbClr val="21295C"/>
            </a:solidFill>
            <a:prstDash val="solid"/>
          </a:ln>
        </p:spPr>
      </p:sp>
      <p:sp>
        <p:nvSpPr>
          <p:cNvPr id="24" name="Shape 22"/>
          <p:cNvSpPr/>
          <p:nvPr/>
        </p:nvSpPr>
        <p:spPr>
          <a:xfrm>
            <a:off x="5897880" y="3520440"/>
            <a:ext cx="0" cy="228600"/>
          </a:xfrm>
          <a:prstGeom prst="line">
            <a:avLst/>
          </a:prstGeom>
          <a:noFill/>
          <a:ln w="19050">
            <a:solidFill>
              <a:srgbClr val="21295C"/>
            </a:solidFill>
            <a:prstDash val="solid"/>
          </a:ln>
        </p:spPr>
      </p:sp>
      <p:sp>
        <p:nvSpPr>
          <p:cNvPr id="25" name="Shape 23"/>
          <p:cNvSpPr/>
          <p:nvPr/>
        </p:nvSpPr>
        <p:spPr>
          <a:xfrm flipV="1">
            <a:off x="6675120" y="3749040"/>
            <a:ext cx="777240" cy="274320"/>
          </a:xfrm>
          <a:prstGeom prst="line">
            <a:avLst/>
          </a:prstGeom>
          <a:noFill/>
          <a:ln w="19050">
            <a:solidFill>
              <a:srgbClr val="21295C"/>
            </a:solidFill>
            <a:prstDash val="solid"/>
          </a:ln>
        </p:spPr>
      </p:sp>
      <p:sp>
        <p:nvSpPr>
          <p:cNvPr id="26" name="Shape 24"/>
          <p:cNvSpPr/>
          <p:nvPr/>
        </p:nvSpPr>
        <p:spPr>
          <a:xfrm flipV="1">
            <a:off x="8915400" y="3474720"/>
            <a:ext cx="685800" cy="274320"/>
          </a:xfrm>
          <a:prstGeom prst="line">
            <a:avLst/>
          </a:prstGeom>
          <a:noFill/>
          <a:ln w="19050">
            <a:solidFill>
              <a:srgbClr val="21295C"/>
            </a:solidFill>
            <a:prstDash val="solid"/>
          </a:ln>
        </p:spPr>
      </p:sp>
      <p:sp>
        <p:nvSpPr>
          <p:cNvPr id="27" name="Shape 25"/>
          <p:cNvSpPr/>
          <p:nvPr/>
        </p:nvSpPr>
        <p:spPr>
          <a:xfrm>
            <a:off x="640080" y="4526280"/>
            <a:ext cx="1143000" cy="384048"/>
          </a:xfrm>
          <a:prstGeom prst="ellipse">
            <a:avLst/>
          </a:prstGeom>
          <a:solidFill>
            <a:srgbClr val="CFE8F0"/>
          </a:solidFill>
          <a:ln w="12700">
            <a:solidFill>
              <a:srgbClr val="1C7293"/>
            </a:solidFill>
            <a:prstDash val="solid"/>
          </a:ln>
        </p:spPr>
      </p:sp>
      <p:sp>
        <p:nvSpPr>
          <p:cNvPr id="28" name="Text 26"/>
          <p:cNvSpPr/>
          <p:nvPr/>
        </p:nvSpPr>
        <p:spPr>
          <a:xfrm>
            <a:off x="640080" y="4526280"/>
            <a:ext cx="1143000" cy="384048"/>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ISBN (PK)</a:t>
            </a:r>
            <a:endParaRPr lang="en-US" sz="1600" dirty="0"/>
          </a:p>
        </p:txBody>
      </p:sp>
      <p:sp>
        <p:nvSpPr>
          <p:cNvPr id="29" name="Shape 27"/>
          <p:cNvSpPr/>
          <p:nvPr/>
        </p:nvSpPr>
        <p:spPr>
          <a:xfrm>
            <a:off x="1920240" y="4526280"/>
            <a:ext cx="1143000" cy="384048"/>
          </a:xfrm>
          <a:prstGeom prst="ellipse">
            <a:avLst/>
          </a:prstGeom>
          <a:solidFill>
            <a:srgbClr val="CFE8F0"/>
          </a:solidFill>
          <a:ln w="12700">
            <a:solidFill>
              <a:srgbClr val="1C7293"/>
            </a:solidFill>
            <a:prstDash val="solid"/>
          </a:ln>
        </p:spPr>
      </p:sp>
      <p:sp>
        <p:nvSpPr>
          <p:cNvPr id="30" name="Text 28"/>
          <p:cNvSpPr/>
          <p:nvPr/>
        </p:nvSpPr>
        <p:spPr>
          <a:xfrm>
            <a:off x="1920240" y="4526280"/>
            <a:ext cx="1143000" cy="384048"/>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Title</a:t>
            </a:r>
            <a:endParaRPr lang="en-US" sz="1600" dirty="0"/>
          </a:p>
        </p:txBody>
      </p:sp>
      <p:sp>
        <p:nvSpPr>
          <p:cNvPr id="31" name="Shape 29"/>
          <p:cNvSpPr/>
          <p:nvPr/>
        </p:nvSpPr>
        <p:spPr>
          <a:xfrm>
            <a:off x="640080" y="4983480"/>
            <a:ext cx="1143000" cy="384048"/>
          </a:xfrm>
          <a:prstGeom prst="ellipse">
            <a:avLst/>
          </a:prstGeom>
          <a:solidFill>
            <a:srgbClr val="CFE8F0"/>
          </a:solidFill>
          <a:ln w="12700">
            <a:solidFill>
              <a:srgbClr val="1C7293"/>
            </a:solidFill>
            <a:prstDash val="solid"/>
          </a:ln>
        </p:spPr>
      </p:sp>
      <p:sp>
        <p:nvSpPr>
          <p:cNvPr id="32" name="Text 30"/>
          <p:cNvSpPr/>
          <p:nvPr/>
        </p:nvSpPr>
        <p:spPr>
          <a:xfrm>
            <a:off x="640080" y="4983480"/>
            <a:ext cx="1143000" cy="384048"/>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Genre</a:t>
            </a:r>
            <a:endParaRPr lang="en-US" sz="1600" dirty="0"/>
          </a:p>
        </p:txBody>
      </p:sp>
      <p:sp>
        <p:nvSpPr>
          <p:cNvPr id="33" name="Shape 31"/>
          <p:cNvSpPr/>
          <p:nvPr/>
        </p:nvSpPr>
        <p:spPr>
          <a:xfrm>
            <a:off x="5120640" y="4526280"/>
            <a:ext cx="1143000" cy="384048"/>
          </a:xfrm>
          <a:prstGeom prst="ellipse">
            <a:avLst/>
          </a:prstGeom>
          <a:solidFill>
            <a:srgbClr val="CFE8F0"/>
          </a:solidFill>
          <a:ln w="12700">
            <a:solidFill>
              <a:srgbClr val="1C7293"/>
            </a:solidFill>
            <a:prstDash val="solid"/>
          </a:ln>
        </p:spPr>
      </p:sp>
      <p:sp>
        <p:nvSpPr>
          <p:cNvPr id="34" name="Text 32"/>
          <p:cNvSpPr/>
          <p:nvPr/>
        </p:nvSpPr>
        <p:spPr>
          <a:xfrm>
            <a:off x="5166360" y="4590288"/>
            <a:ext cx="1097280" cy="320040"/>
          </a:xfrm>
          <a:prstGeom prst="rect">
            <a:avLst/>
          </a:prstGeom>
          <a:noFill/>
          <a:ln/>
        </p:spPr>
        <p:txBody>
          <a:bodyPr wrap="square" rtlCol="0" anchor="ctr"/>
          <a:lstStyle/>
          <a:p>
            <a:pPr marL="0" indent="0" algn="ctr">
              <a:buNone/>
            </a:pPr>
            <a:r>
              <a:rPr lang="en-US" sz="1600" dirty="0" err="1">
                <a:solidFill>
                  <a:srgbClr val="21295C"/>
                </a:solidFill>
                <a:latin typeface="Calibri" pitchFamily="34" charset="0"/>
                <a:ea typeface="Calibri" pitchFamily="34" charset="-122"/>
                <a:cs typeface="Calibri" pitchFamily="34" charset="-120"/>
              </a:rPr>
              <a:t>MemberID</a:t>
            </a:r>
            <a:r>
              <a:rPr lang="en-US" sz="1600" dirty="0">
                <a:solidFill>
                  <a:srgbClr val="21295C"/>
                </a:solidFill>
                <a:latin typeface="Calibri" pitchFamily="34" charset="0"/>
                <a:ea typeface="Calibri" pitchFamily="34" charset="-122"/>
                <a:cs typeface="Calibri" pitchFamily="34" charset="-120"/>
              </a:rPr>
              <a:t> </a:t>
            </a:r>
            <a:endParaRPr lang="en-US" sz="1600" dirty="0"/>
          </a:p>
        </p:txBody>
      </p:sp>
      <p:sp>
        <p:nvSpPr>
          <p:cNvPr id="35" name="Shape 33"/>
          <p:cNvSpPr/>
          <p:nvPr/>
        </p:nvSpPr>
        <p:spPr>
          <a:xfrm>
            <a:off x="6446520" y="4526280"/>
            <a:ext cx="1143000" cy="384048"/>
          </a:xfrm>
          <a:prstGeom prst="ellipse">
            <a:avLst/>
          </a:prstGeom>
          <a:solidFill>
            <a:srgbClr val="CFE8F0"/>
          </a:solidFill>
          <a:ln w="12700">
            <a:solidFill>
              <a:srgbClr val="1C7293"/>
            </a:solidFill>
            <a:prstDash val="solid"/>
          </a:ln>
        </p:spPr>
      </p:sp>
      <p:sp>
        <p:nvSpPr>
          <p:cNvPr id="36" name="Text 34"/>
          <p:cNvSpPr/>
          <p:nvPr/>
        </p:nvSpPr>
        <p:spPr>
          <a:xfrm>
            <a:off x="6446520" y="4526280"/>
            <a:ext cx="1143000" cy="384048"/>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Name</a:t>
            </a:r>
            <a:endParaRPr lang="en-US" sz="1600" dirty="0"/>
          </a:p>
        </p:txBody>
      </p:sp>
      <p:sp>
        <p:nvSpPr>
          <p:cNvPr id="37" name="Shape 35"/>
          <p:cNvSpPr/>
          <p:nvPr/>
        </p:nvSpPr>
        <p:spPr>
          <a:xfrm>
            <a:off x="1188720" y="4297680"/>
            <a:ext cx="0" cy="228600"/>
          </a:xfrm>
          <a:prstGeom prst="line">
            <a:avLst/>
          </a:prstGeom>
          <a:noFill/>
          <a:ln w="19050">
            <a:solidFill>
              <a:srgbClr val="1C7293"/>
            </a:solidFill>
            <a:prstDash val="solid"/>
          </a:ln>
        </p:spPr>
      </p:sp>
      <p:sp>
        <p:nvSpPr>
          <p:cNvPr id="38" name="Shape 36"/>
          <p:cNvSpPr/>
          <p:nvPr/>
        </p:nvSpPr>
        <p:spPr>
          <a:xfrm>
            <a:off x="1828800" y="4114800"/>
            <a:ext cx="594360" cy="411480"/>
          </a:xfrm>
          <a:prstGeom prst="line">
            <a:avLst/>
          </a:prstGeom>
          <a:noFill/>
          <a:ln w="19050">
            <a:solidFill>
              <a:srgbClr val="1C7293"/>
            </a:solidFill>
            <a:prstDash val="solid"/>
          </a:ln>
        </p:spPr>
      </p:sp>
      <p:sp>
        <p:nvSpPr>
          <p:cNvPr id="39" name="Shape 37"/>
          <p:cNvSpPr/>
          <p:nvPr/>
        </p:nvSpPr>
        <p:spPr>
          <a:xfrm>
            <a:off x="1188720" y="4297680"/>
            <a:ext cx="0" cy="685800"/>
          </a:xfrm>
          <a:prstGeom prst="line">
            <a:avLst/>
          </a:prstGeom>
          <a:noFill/>
          <a:ln w="19050">
            <a:solidFill>
              <a:srgbClr val="1C7293"/>
            </a:solidFill>
            <a:prstDash val="solid"/>
          </a:ln>
        </p:spPr>
      </p:sp>
      <p:sp>
        <p:nvSpPr>
          <p:cNvPr id="40" name="Shape 38"/>
          <p:cNvSpPr/>
          <p:nvPr/>
        </p:nvSpPr>
        <p:spPr>
          <a:xfrm>
            <a:off x="5669280" y="4297680"/>
            <a:ext cx="0" cy="228600"/>
          </a:xfrm>
          <a:prstGeom prst="line">
            <a:avLst/>
          </a:prstGeom>
          <a:noFill/>
          <a:ln w="19050">
            <a:solidFill>
              <a:srgbClr val="1C7293"/>
            </a:solidFill>
            <a:prstDash val="solid"/>
          </a:ln>
        </p:spPr>
      </p:sp>
      <p:sp>
        <p:nvSpPr>
          <p:cNvPr id="41" name="Shape 39"/>
          <p:cNvSpPr/>
          <p:nvPr/>
        </p:nvSpPr>
        <p:spPr>
          <a:xfrm>
            <a:off x="6309360" y="4114800"/>
            <a:ext cx="640080" cy="411480"/>
          </a:xfrm>
          <a:prstGeom prst="line">
            <a:avLst/>
          </a:prstGeom>
          <a:noFill/>
          <a:ln w="19050">
            <a:solidFill>
              <a:srgbClr val="1C7293"/>
            </a:solidFill>
            <a:prstDash val="solid"/>
          </a:ln>
        </p:spPr>
      </p:sp>
      <p:sp>
        <p:nvSpPr>
          <p:cNvPr id="42" name="Shape 40"/>
          <p:cNvSpPr/>
          <p:nvPr/>
        </p:nvSpPr>
        <p:spPr>
          <a:xfrm>
            <a:off x="548640" y="5513832"/>
            <a:ext cx="11064240" cy="932688"/>
          </a:xfrm>
          <a:prstGeom prst="roundRect">
            <a:avLst>
              <a:gd name="adj" fmla="val 6667"/>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43" name="Text 41"/>
          <p:cNvSpPr/>
          <p:nvPr/>
        </p:nvSpPr>
        <p:spPr>
          <a:xfrm>
            <a:off x="777240" y="5458968"/>
            <a:ext cx="10607040" cy="960120"/>
          </a:xfrm>
          <a:prstGeom prst="rect">
            <a:avLst/>
          </a:prstGeom>
          <a:noFill/>
          <a:ln/>
        </p:spPr>
        <p:txBody>
          <a:bodyPr wrap="square" rtlCol="0" anchor="ctr"/>
          <a:lstStyle/>
          <a:p>
            <a:pPr marL="0" indent="0">
              <a:lnSpc>
                <a:spcPct val="125000"/>
              </a:lnSpc>
              <a:buNone/>
            </a:pPr>
            <a:r>
              <a:rPr lang="en-US" sz="1600" b="1" dirty="0">
                <a:solidFill>
                  <a:srgbClr val="21295C"/>
                </a:solidFill>
                <a:latin typeface="Calibri" pitchFamily="34" charset="0"/>
                <a:ea typeface="Calibri" pitchFamily="34" charset="-122"/>
                <a:cs typeface="Calibri" pitchFamily="34" charset="-120"/>
              </a:rPr>
              <a:t>Rectangles = entities  </a:t>
            </a:r>
            <a:r>
              <a:rPr lang="en-US" sz="1600" dirty="0">
                <a:solidFill>
                  <a:srgbClr val="16232E"/>
                </a:solidFill>
                <a:latin typeface="Calibri" pitchFamily="34" charset="0"/>
                <a:ea typeface="Calibri" pitchFamily="34" charset="-122"/>
                <a:cs typeface="Calibri" pitchFamily="34" charset="-120"/>
              </a:rPr>
              <a:t>(Author, Book, Librarian, Member, Loan)   </a:t>
            </a:r>
            <a:r>
              <a:rPr lang="en-US" sz="1600" b="1" dirty="0">
                <a:solidFill>
                  <a:srgbClr val="21295C"/>
                </a:solidFill>
                <a:latin typeface="Calibri" pitchFamily="34" charset="0"/>
                <a:ea typeface="Calibri" pitchFamily="34" charset="-122"/>
                <a:cs typeface="Calibri" pitchFamily="34" charset="-120"/>
              </a:rPr>
              <a:t>Diamonds = relationships  </a:t>
            </a:r>
            <a:r>
              <a:rPr lang="en-US" sz="1600" dirty="0">
                <a:solidFill>
                  <a:srgbClr val="16232E"/>
                </a:solidFill>
                <a:latin typeface="Calibri" pitchFamily="34" charset="0"/>
                <a:ea typeface="Calibri" pitchFamily="34" charset="-122"/>
                <a:cs typeface="Calibri" pitchFamily="34" charset="-120"/>
              </a:rPr>
              <a:t>(Writes, Manages, Borrows)   </a:t>
            </a:r>
            <a:r>
              <a:rPr lang="en-US" sz="1600" b="1" dirty="0">
                <a:solidFill>
                  <a:srgbClr val="21295C"/>
                </a:solidFill>
                <a:latin typeface="Calibri" pitchFamily="34" charset="0"/>
                <a:ea typeface="Calibri" pitchFamily="34" charset="-122"/>
                <a:cs typeface="Calibri" pitchFamily="34" charset="-120"/>
              </a:rPr>
              <a:t>Ovals = attributes  </a:t>
            </a:r>
            <a:r>
              <a:rPr lang="en-US" sz="1600" dirty="0">
                <a:solidFill>
                  <a:srgbClr val="16232E"/>
                </a:solidFill>
                <a:latin typeface="Calibri" pitchFamily="34" charset="0"/>
                <a:ea typeface="Calibri" pitchFamily="34" charset="-122"/>
                <a:cs typeface="Calibri" pitchFamily="34" charset="-120"/>
              </a:rPr>
              <a:t>(ISBN, Title, MemberID...). A Member Borrows a Book, creating a Loan record; a Librarian Manages the catalogue; an Author Writes one or more Books.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6 · UNDERSTAND</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r>
              <a:rPr lang="en-IN" sz="1600" b="1" dirty="0">
                <a:latin typeface="Cambria" panose="02040503050406030204" pitchFamily="18" charset="0"/>
                <a:ea typeface="Cambria" panose="02040503050406030204" pitchFamily="18" charset="0"/>
              </a:rPr>
              <a:t>Enhanced Entity-Relationship (EER)</a:t>
            </a:r>
            <a:r>
              <a:rPr lang="en-US" sz="1600" b="1" dirty="0">
                <a:solidFill>
                  <a:srgbClr val="21295C"/>
                </a:solidFill>
                <a:latin typeface="Cambria" panose="02040503050406030204" pitchFamily="18" charset="0"/>
                <a:ea typeface="Cambria" panose="02040503050406030204" pitchFamily="18" charset="0"/>
                <a:cs typeface="Cambria" pitchFamily="34" charset="-120"/>
              </a:rPr>
              <a:t> Model — University Case Study</a:t>
            </a:r>
            <a:endParaRPr lang="en-US" sz="1600" b="1" dirty="0">
              <a:latin typeface="Cambria" panose="02040503050406030204" pitchFamily="18" charset="0"/>
              <a:ea typeface="Cambria" panose="02040503050406030204" pitchFamily="18" charset="0"/>
            </a:endParaRPr>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endParaRPr lang="en-US" sz="1600" dirty="0"/>
          </a:p>
        </p:txBody>
      </p:sp>
      <p:sp>
        <p:nvSpPr>
          <p:cNvPr id="5" name="Shape 3"/>
          <p:cNvSpPr/>
          <p:nvPr/>
        </p:nvSpPr>
        <p:spPr>
          <a:xfrm>
            <a:off x="4937760" y="1600200"/>
            <a:ext cx="2286000" cy="548640"/>
          </a:xfrm>
          <a:prstGeom prst="rect">
            <a:avLst/>
          </a:prstGeom>
          <a:solidFill>
            <a:srgbClr val="21295C"/>
          </a:solidFill>
          <a:ln w="15875">
            <a:solidFill>
              <a:srgbClr val="21295C"/>
            </a:solidFill>
            <a:prstDash val="solid"/>
          </a:ln>
        </p:spPr>
      </p:sp>
      <p:sp>
        <p:nvSpPr>
          <p:cNvPr id="6" name="Text 4"/>
          <p:cNvSpPr/>
          <p:nvPr/>
        </p:nvSpPr>
        <p:spPr>
          <a:xfrm>
            <a:off x="4937760" y="1600200"/>
            <a:ext cx="228600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PERSON (Superclass)</a:t>
            </a:r>
            <a:endParaRPr lang="en-US" sz="1600" dirty="0"/>
          </a:p>
        </p:txBody>
      </p:sp>
      <p:sp>
        <p:nvSpPr>
          <p:cNvPr id="7" name="Shape 5"/>
          <p:cNvSpPr/>
          <p:nvPr/>
        </p:nvSpPr>
        <p:spPr>
          <a:xfrm>
            <a:off x="5029200" y="2331720"/>
            <a:ext cx="731520" cy="347472"/>
          </a:xfrm>
          <a:prstGeom prst="ellipse">
            <a:avLst/>
          </a:prstGeom>
          <a:solidFill>
            <a:srgbClr val="CFE8F0"/>
          </a:solidFill>
          <a:ln w="12700">
            <a:solidFill>
              <a:srgbClr val="1C7293"/>
            </a:solidFill>
            <a:prstDash val="solid"/>
          </a:ln>
        </p:spPr>
      </p:sp>
      <p:sp>
        <p:nvSpPr>
          <p:cNvPr id="8" name="Text 6"/>
          <p:cNvSpPr/>
          <p:nvPr/>
        </p:nvSpPr>
        <p:spPr>
          <a:xfrm>
            <a:off x="5029200" y="2331720"/>
            <a:ext cx="731520" cy="347472"/>
          </a:xfrm>
          <a:prstGeom prst="rect">
            <a:avLst/>
          </a:prstGeom>
          <a:noFill/>
          <a:ln/>
        </p:spPr>
        <p:txBody>
          <a:bodyPr wrap="square" rtlCol="0" anchor="ctr"/>
          <a:lstStyle/>
          <a:p>
            <a:pPr marL="0" indent="0" algn="ctr">
              <a:buNone/>
            </a:pPr>
            <a:r>
              <a:rPr lang="en-US" sz="1500" dirty="0">
                <a:solidFill>
                  <a:srgbClr val="21295C"/>
                </a:solidFill>
                <a:latin typeface="Calibri" pitchFamily="34" charset="0"/>
                <a:ea typeface="Calibri" pitchFamily="34" charset="-122"/>
                <a:cs typeface="Calibri" pitchFamily="34" charset="-120"/>
              </a:rPr>
              <a:t>PersonID</a:t>
            </a:r>
            <a:endParaRPr lang="en-US" sz="1500" dirty="0"/>
          </a:p>
        </p:txBody>
      </p:sp>
      <p:sp>
        <p:nvSpPr>
          <p:cNvPr id="9" name="Shape 7"/>
          <p:cNvSpPr/>
          <p:nvPr/>
        </p:nvSpPr>
        <p:spPr>
          <a:xfrm>
            <a:off x="5394960" y="2148840"/>
            <a:ext cx="685800" cy="0"/>
          </a:xfrm>
          <a:prstGeom prst="line">
            <a:avLst/>
          </a:prstGeom>
          <a:noFill/>
          <a:ln w="19050">
            <a:solidFill>
              <a:srgbClr val="1C7293"/>
            </a:solidFill>
            <a:prstDash val="solid"/>
          </a:ln>
        </p:spPr>
      </p:sp>
      <p:sp>
        <p:nvSpPr>
          <p:cNvPr id="10" name="Shape 8"/>
          <p:cNvSpPr/>
          <p:nvPr/>
        </p:nvSpPr>
        <p:spPr>
          <a:xfrm>
            <a:off x="5394960" y="2148840"/>
            <a:ext cx="0" cy="182880"/>
          </a:xfrm>
          <a:prstGeom prst="line">
            <a:avLst/>
          </a:prstGeom>
          <a:noFill/>
          <a:ln w="19050">
            <a:solidFill>
              <a:srgbClr val="1C7293"/>
            </a:solidFill>
            <a:prstDash val="solid"/>
          </a:ln>
        </p:spPr>
      </p:sp>
      <p:sp>
        <p:nvSpPr>
          <p:cNvPr id="11" name="Shape 9"/>
          <p:cNvSpPr/>
          <p:nvPr/>
        </p:nvSpPr>
        <p:spPr>
          <a:xfrm>
            <a:off x="5897880" y="2331720"/>
            <a:ext cx="731520" cy="347472"/>
          </a:xfrm>
          <a:prstGeom prst="ellipse">
            <a:avLst/>
          </a:prstGeom>
          <a:solidFill>
            <a:srgbClr val="CFE8F0"/>
          </a:solidFill>
          <a:ln w="12700">
            <a:solidFill>
              <a:srgbClr val="1C7293"/>
            </a:solidFill>
            <a:prstDash val="solid"/>
          </a:ln>
        </p:spPr>
      </p:sp>
      <p:sp>
        <p:nvSpPr>
          <p:cNvPr id="12" name="Text 10"/>
          <p:cNvSpPr/>
          <p:nvPr/>
        </p:nvSpPr>
        <p:spPr>
          <a:xfrm>
            <a:off x="5897880" y="2331720"/>
            <a:ext cx="731520" cy="347472"/>
          </a:xfrm>
          <a:prstGeom prst="rect">
            <a:avLst/>
          </a:prstGeom>
          <a:noFill/>
          <a:ln/>
        </p:spPr>
        <p:txBody>
          <a:bodyPr wrap="square" rtlCol="0" anchor="ctr"/>
          <a:lstStyle/>
          <a:p>
            <a:pPr marL="0" indent="0" algn="ctr">
              <a:buNone/>
            </a:pPr>
            <a:r>
              <a:rPr lang="en-US" sz="1500" dirty="0">
                <a:solidFill>
                  <a:srgbClr val="21295C"/>
                </a:solidFill>
                <a:latin typeface="Calibri" pitchFamily="34" charset="0"/>
                <a:ea typeface="Calibri" pitchFamily="34" charset="-122"/>
                <a:cs typeface="Calibri" pitchFamily="34" charset="-120"/>
              </a:rPr>
              <a:t>Name</a:t>
            </a:r>
            <a:endParaRPr lang="en-US" sz="1500" dirty="0"/>
          </a:p>
        </p:txBody>
      </p:sp>
      <p:sp>
        <p:nvSpPr>
          <p:cNvPr id="13" name="Shape 11"/>
          <p:cNvSpPr/>
          <p:nvPr/>
        </p:nvSpPr>
        <p:spPr>
          <a:xfrm flipH="1">
            <a:off x="6080760" y="2148840"/>
            <a:ext cx="182880" cy="0"/>
          </a:xfrm>
          <a:prstGeom prst="line">
            <a:avLst/>
          </a:prstGeom>
          <a:noFill/>
          <a:ln w="19050">
            <a:solidFill>
              <a:srgbClr val="1C7293"/>
            </a:solidFill>
            <a:prstDash val="solid"/>
          </a:ln>
        </p:spPr>
      </p:sp>
      <p:sp>
        <p:nvSpPr>
          <p:cNvPr id="14" name="Shape 12"/>
          <p:cNvSpPr/>
          <p:nvPr/>
        </p:nvSpPr>
        <p:spPr>
          <a:xfrm>
            <a:off x="6263640" y="2148840"/>
            <a:ext cx="0" cy="182880"/>
          </a:xfrm>
          <a:prstGeom prst="line">
            <a:avLst/>
          </a:prstGeom>
          <a:noFill/>
          <a:ln w="19050">
            <a:solidFill>
              <a:srgbClr val="1C7293"/>
            </a:solidFill>
            <a:prstDash val="solid"/>
          </a:ln>
        </p:spPr>
      </p:sp>
      <p:sp>
        <p:nvSpPr>
          <p:cNvPr id="15" name="Shape 13"/>
          <p:cNvSpPr/>
          <p:nvPr/>
        </p:nvSpPr>
        <p:spPr>
          <a:xfrm>
            <a:off x="6766560" y="2331720"/>
            <a:ext cx="731520" cy="347472"/>
          </a:xfrm>
          <a:prstGeom prst="ellipse">
            <a:avLst/>
          </a:prstGeom>
          <a:solidFill>
            <a:srgbClr val="CFE8F0"/>
          </a:solidFill>
          <a:ln w="12700">
            <a:solidFill>
              <a:srgbClr val="1C7293"/>
            </a:solidFill>
            <a:prstDash val="solid"/>
          </a:ln>
        </p:spPr>
      </p:sp>
      <p:sp>
        <p:nvSpPr>
          <p:cNvPr id="16" name="Text 14"/>
          <p:cNvSpPr/>
          <p:nvPr/>
        </p:nvSpPr>
        <p:spPr>
          <a:xfrm>
            <a:off x="6766560" y="2331720"/>
            <a:ext cx="731520" cy="347472"/>
          </a:xfrm>
          <a:prstGeom prst="rect">
            <a:avLst/>
          </a:prstGeom>
          <a:noFill/>
          <a:ln/>
        </p:spPr>
        <p:txBody>
          <a:bodyPr wrap="square" rtlCol="0" anchor="ctr"/>
          <a:lstStyle/>
          <a:p>
            <a:pPr marL="0" indent="0" algn="ctr">
              <a:buNone/>
            </a:pPr>
            <a:r>
              <a:rPr lang="en-US" sz="1500" dirty="0">
                <a:solidFill>
                  <a:srgbClr val="21295C"/>
                </a:solidFill>
                <a:latin typeface="Calibri" pitchFamily="34" charset="0"/>
                <a:ea typeface="Calibri" pitchFamily="34" charset="-122"/>
                <a:cs typeface="Calibri" pitchFamily="34" charset="-120"/>
              </a:rPr>
              <a:t>DOB</a:t>
            </a:r>
            <a:endParaRPr lang="en-US" sz="1500" dirty="0"/>
          </a:p>
        </p:txBody>
      </p:sp>
      <p:sp>
        <p:nvSpPr>
          <p:cNvPr id="17" name="Shape 15"/>
          <p:cNvSpPr/>
          <p:nvPr/>
        </p:nvSpPr>
        <p:spPr>
          <a:xfrm flipH="1">
            <a:off x="6080760" y="2148840"/>
            <a:ext cx="1051560" cy="0"/>
          </a:xfrm>
          <a:prstGeom prst="line">
            <a:avLst/>
          </a:prstGeom>
          <a:noFill/>
          <a:ln w="19050">
            <a:solidFill>
              <a:srgbClr val="1C7293"/>
            </a:solidFill>
            <a:prstDash val="solid"/>
          </a:ln>
        </p:spPr>
      </p:sp>
      <p:sp>
        <p:nvSpPr>
          <p:cNvPr id="18" name="Shape 16"/>
          <p:cNvSpPr/>
          <p:nvPr/>
        </p:nvSpPr>
        <p:spPr>
          <a:xfrm>
            <a:off x="7132320" y="2148840"/>
            <a:ext cx="0" cy="182880"/>
          </a:xfrm>
          <a:prstGeom prst="line">
            <a:avLst/>
          </a:prstGeom>
          <a:noFill/>
          <a:ln w="19050">
            <a:solidFill>
              <a:srgbClr val="1C7293"/>
            </a:solidFill>
            <a:prstDash val="solid"/>
          </a:ln>
        </p:spPr>
      </p:sp>
      <p:sp>
        <p:nvSpPr>
          <p:cNvPr id="19" name="Shape 17"/>
          <p:cNvSpPr/>
          <p:nvPr/>
        </p:nvSpPr>
        <p:spPr>
          <a:xfrm flipV="1">
            <a:off x="5623560" y="2834640"/>
            <a:ext cx="914400" cy="502920"/>
          </a:xfrm>
          <a:prstGeom prst="triangle">
            <a:avLst/>
          </a:prstGeom>
          <a:solidFill>
            <a:srgbClr val="F2B134"/>
          </a:solidFill>
          <a:ln w="12700">
            <a:solidFill>
              <a:srgbClr val="21295C"/>
            </a:solidFill>
            <a:prstDash val="solid"/>
          </a:ln>
        </p:spPr>
      </p:sp>
      <p:sp>
        <p:nvSpPr>
          <p:cNvPr id="20" name="Text 18"/>
          <p:cNvSpPr/>
          <p:nvPr/>
        </p:nvSpPr>
        <p:spPr>
          <a:xfrm>
            <a:off x="5623560" y="2880360"/>
            <a:ext cx="914400" cy="36576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ISA</a:t>
            </a:r>
            <a:endParaRPr lang="en-US" sz="1600" dirty="0"/>
          </a:p>
        </p:txBody>
      </p:sp>
      <p:sp>
        <p:nvSpPr>
          <p:cNvPr id="21" name="Shape 19"/>
          <p:cNvSpPr/>
          <p:nvPr/>
        </p:nvSpPr>
        <p:spPr>
          <a:xfrm>
            <a:off x="6080760" y="2148840"/>
            <a:ext cx="0" cy="685800"/>
          </a:xfrm>
          <a:prstGeom prst="line">
            <a:avLst/>
          </a:prstGeom>
          <a:noFill/>
          <a:ln w="19050">
            <a:solidFill>
              <a:srgbClr val="21295C"/>
            </a:solidFill>
            <a:prstDash val="solid"/>
          </a:ln>
        </p:spPr>
      </p:sp>
      <p:sp>
        <p:nvSpPr>
          <p:cNvPr id="22" name="Shape 20"/>
          <p:cNvSpPr/>
          <p:nvPr/>
        </p:nvSpPr>
        <p:spPr>
          <a:xfrm flipH="1">
            <a:off x="1874520" y="3337560"/>
            <a:ext cx="4206240" cy="411480"/>
          </a:xfrm>
          <a:prstGeom prst="line">
            <a:avLst/>
          </a:prstGeom>
          <a:noFill/>
          <a:ln w="19050">
            <a:solidFill>
              <a:srgbClr val="21295C"/>
            </a:solidFill>
            <a:prstDash val="solid"/>
          </a:ln>
        </p:spPr>
      </p:sp>
      <p:sp>
        <p:nvSpPr>
          <p:cNvPr id="23" name="Shape 21"/>
          <p:cNvSpPr/>
          <p:nvPr/>
        </p:nvSpPr>
        <p:spPr>
          <a:xfrm>
            <a:off x="822960" y="3749040"/>
            <a:ext cx="2103120" cy="502920"/>
          </a:xfrm>
          <a:prstGeom prst="rect">
            <a:avLst/>
          </a:prstGeom>
          <a:solidFill>
            <a:srgbClr val="065A82"/>
          </a:solidFill>
          <a:ln w="15875">
            <a:solidFill>
              <a:srgbClr val="21295C"/>
            </a:solidFill>
            <a:prstDash val="solid"/>
          </a:ln>
        </p:spPr>
      </p:sp>
      <p:sp>
        <p:nvSpPr>
          <p:cNvPr id="24" name="Text 22"/>
          <p:cNvSpPr/>
          <p:nvPr/>
        </p:nvSpPr>
        <p:spPr>
          <a:xfrm>
            <a:off x="822960" y="3749040"/>
            <a:ext cx="21031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STUDENT</a:t>
            </a:r>
            <a:endParaRPr lang="en-US" sz="1600" dirty="0"/>
          </a:p>
        </p:txBody>
      </p:sp>
      <p:sp>
        <p:nvSpPr>
          <p:cNvPr id="25" name="Text 23"/>
          <p:cNvSpPr/>
          <p:nvPr/>
        </p:nvSpPr>
        <p:spPr>
          <a:xfrm>
            <a:off x="822960" y="4343400"/>
            <a:ext cx="2103120" cy="320040"/>
          </a:xfrm>
          <a:prstGeom prst="rect">
            <a:avLst/>
          </a:prstGeom>
          <a:noFill/>
          <a:ln/>
        </p:spPr>
        <p:txBody>
          <a:bodyPr wrap="square" rtlCol="0" anchor="ctr"/>
          <a:lstStyle/>
          <a:p>
            <a:pPr marL="0" indent="0" algn="ctr">
              <a:buNone/>
            </a:pPr>
            <a:r>
              <a:rPr lang="en-US" sz="1600" i="1" dirty="0">
                <a:solidFill>
                  <a:srgbClr val="5C7488"/>
                </a:solidFill>
                <a:latin typeface="Calibri" pitchFamily="34" charset="0"/>
                <a:ea typeface="Calibri" pitchFamily="34" charset="-122"/>
                <a:cs typeface="Calibri" pitchFamily="34" charset="-120"/>
              </a:rPr>
              <a:t>RollNo, Major, GPA</a:t>
            </a:r>
            <a:endParaRPr lang="en-US" sz="1600" dirty="0"/>
          </a:p>
        </p:txBody>
      </p:sp>
      <p:sp>
        <p:nvSpPr>
          <p:cNvPr id="26" name="Shape 24"/>
          <p:cNvSpPr/>
          <p:nvPr/>
        </p:nvSpPr>
        <p:spPr>
          <a:xfrm flipH="1">
            <a:off x="5486400" y="3337560"/>
            <a:ext cx="594360" cy="411480"/>
          </a:xfrm>
          <a:prstGeom prst="line">
            <a:avLst/>
          </a:prstGeom>
          <a:noFill/>
          <a:ln w="19050">
            <a:solidFill>
              <a:srgbClr val="21295C"/>
            </a:solidFill>
            <a:prstDash val="solid"/>
          </a:ln>
        </p:spPr>
      </p:sp>
      <p:sp>
        <p:nvSpPr>
          <p:cNvPr id="27" name="Shape 25"/>
          <p:cNvSpPr/>
          <p:nvPr/>
        </p:nvSpPr>
        <p:spPr>
          <a:xfrm>
            <a:off x="4434840" y="3749040"/>
            <a:ext cx="2103120" cy="502920"/>
          </a:xfrm>
          <a:prstGeom prst="rect">
            <a:avLst/>
          </a:prstGeom>
          <a:solidFill>
            <a:srgbClr val="065A82"/>
          </a:solidFill>
          <a:ln w="15875">
            <a:solidFill>
              <a:srgbClr val="21295C"/>
            </a:solidFill>
            <a:prstDash val="solid"/>
          </a:ln>
        </p:spPr>
      </p:sp>
      <p:sp>
        <p:nvSpPr>
          <p:cNvPr id="28" name="Text 26"/>
          <p:cNvSpPr/>
          <p:nvPr/>
        </p:nvSpPr>
        <p:spPr>
          <a:xfrm>
            <a:off x="4434840" y="3749040"/>
            <a:ext cx="21031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FACULTY</a:t>
            </a:r>
            <a:endParaRPr lang="en-US" sz="1600" dirty="0"/>
          </a:p>
        </p:txBody>
      </p:sp>
      <p:sp>
        <p:nvSpPr>
          <p:cNvPr id="29" name="Text 27"/>
          <p:cNvSpPr/>
          <p:nvPr/>
        </p:nvSpPr>
        <p:spPr>
          <a:xfrm>
            <a:off x="4434840" y="4343400"/>
            <a:ext cx="2103120" cy="320040"/>
          </a:xfrm>
          <a:prstGeom prst="rect">
            <a:avLst/>
          </a:prstGeom>
          <a:noFill/>
          <a:ln/>
        </p:spPr>
        <p:txBody>
          <a:bodyPr wrap="square" rtlCol="0" anchor="ctr"/>
          <a:lstStyle/>
          <a:p>
            <a:pPr marL="0" indent="0" algn="ctr">
              <a:buNone/>
            </a:pPr>
            <a:r>
              <a:rPr lang="en-US" sz="1600" i="1" dirty="0">
                <a:solidFill>
                  <a:srgbClr val="5C7488"/>
                </a:solidFill>
                <a:latin typeface="Calibri" pitchFamily="34" charset="0"/>
                <a:ea typeface="Calibri" pitchFamily="34" charset="-122"/>
                <a:cs typeface="Calibri" pitchFamily="34" charset="-120"/>
              </a:rPr>
              <a:t>EmployeeID, Dept, Rank</a:t>
            </a:r>
            <a:endParaRPr lang="en-US" sz="1600" dirty="0"/>
          </a:p>
        </p:txBody>
      </p:sp>
      <p:sp>
        <p:nvSpPr>
          <p:cNvPr id="30" name="Shape 28"/>
          <p:cNvSpPr/>
          <p:nvPr/>
        </p:nvSpPr>
        <p:spPr>
          <a:xfrm>
            <a:off x="6080760" y="3337560"/>
            <a:ext cx="3017520" cy="411480"/>
          </a:xfrm>
          <a:prstGeom prst="line">
            <a:avLst/>
          </a:prstGeom>
          <a:noFill/>
          <a:ln w="19050">
            <a:solidFill>
              <a:srgbClr val="21295C"/>
            </a:solidFill>
            <a:prstDash val="solid"/>
          </a:ln>
        </p:spPr>
      </p:sp>
      <p:sp>
        <p:nvSpPr>
          <p:cNvPr id="31" name="Shape 29"/>
          <p:cNvSpPr/>
          <p:nvPr/>
        </p:nvSpPr>
        <p:spPr>
          <a:xfrm>
            <a:off x="8046720" y="3749040"/>
            <a:ext cx="2103120" cy="502920"/>
          </a:xfrm>
          <a:prstGeom prst="rect">
            <a:avLst/>
          </a:prstGeom>
          <a:solidFill>
            <a:srgbClr val="065A82"/>
          </a:solidFill>
          <a:ln w="15875">
            <a:solidFill>
              <a:srgbClr val="21295C"/>
            </a:solidFill>
            <a:prstDash val="solid"/>
          </a:ln>
        </p:spPr>
      </p:sp>
      <p:sp>
        <p:nvSpPr>
          <p:cNvPr id="32" name="Text 30"/>
          <p:cNvSpPr/>
          <p:nvPr/>
        </p:nvSpPr>
        <p:spPr>
          <a:xfrm>
            <a:off x="8046720" y="3749040"/>
            <a:ext cx="21031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STAFF</a:t>
            </a:r>
            <a:endParaRPr lang="en-US" sz="1600" dirty="0"/>
          </a:p>
        </p:txBody>
      </p:sp>
      <p:sp>
        <p:nvSpPr>
          <p:cNvPr id="33" name="Text 31"/>
          <p:cNvSpPr/>
          <p:nvPr/>
        </p:nvSpPr>
        <p:spPr>
          <a:xfrm>
            <a:off x="8046720" y="4343400"/>
            <a:ext cx="2103120" cy="320040"/>
          </a:xfrm>
          <a:prstGeom prst="rect">
            <a:avLst/>
          </a:prstGeom>
          <a:noFill/>
          <a:ln/>
        </p:spPr>
        <p:txBody>
          <a:bodyPr wrap="square" rtlCol="0" anchor="ctr"/>
          <a:lstStyle/>
          <a:p>
            <a:pPr marL="0" indent="0" algn="ctr">
              <a:buNone/>
            </a:pPr>
            <a:r>
              <a:rPr lang="en-US" sz="1600" i="1" dirty="0">
                <a:solidFill>
                  <a:srgbClr val="5C7488"/>
                </a:solidFill>
                <a:latin typeface="Calibri" pitchFamily="34" charset="0"/>
                <a:ea typeface="Calibri" pitchFamily="34" charset="-122"/>
                <a:cs typeface="Calibri" pitchFamily="34" charset="-120"/>
              </a:rPr>
              <a:t>EmployeeID, Role</a:t>
            </a:r>
            <a:endParaRPr lang="en-US" sz="1600" dirty="0"/>
          </a:p>
        </p:txBody>
      </p:sp>
      <p:sp>
        <p:nvSpPr>
          <p:cNvPr id="34" name="Text 32"/>
          <p:cNvSpPr/>
          <p:nvPr/>
        </p:nvSpPr>
        <p:spPr>
          <a:xfrm>
            <a:off x="2743200" y="4846320"/>
            <a:ext cx="6675120" cy="320040"/>
          </a:xfrm>
          <a:prstGeom prst="rect">
            <a:avLst/>
          </a:prstGeom>
          <a:noFill/>
          <a:ln/>
        </p:spPr>
        <p:txBody>
          <a:bodyPr wrap="square" rtlCol="0" anchor="ctr"/>
          <a:lstStyle/>
          <a:p>
            <a:pPr marL="0" indent="0" algn="ctr">
              <a:buNone/>
            </a:pPr>
            <a:r>
              <a:rPr lang="en-US" sz="1600" i="1" dirty="0">
                <a:solidFill>
                  <a:srgbClr val="5C7488"/>
                </a:solidFill>
                <a:latin typeface="Calibri" pitchFamily="34" charset="0"/>
                <a:ea typeface="Calibri" pitchFamily="34" charset="-122"/>
                <a:cs typeface="Calibri" pitchFamily="34" charset="-120"/>
              </a:rPr>
              <a:t>Disjoint, total specialization — every Person is exactly one of Student, Faculty or Staff</a:t>
            </a:r>
            <a:endParaRPr lang="en-US" sz="1600" dirty="0"/>
          </a:p>
        </p:txBody>
      </p:sp>
      <p:sp>
        <p:nvSpPr>
          <p:cNvPr id="35" name="Shape 33"/>
          <p:cNvSpPr/>
          <p:nvPr/>
        </p:nvSpPr>
        <p:spPr>
          <a:xfrm>
            <a:off x="548640" y="5349240"/>
            <a:ext cx="11064240" cy="1097280"/>
          </a:xfrm>
          <a:prstGeom prst="roundRect">
            <a:avLst>
              <a:gd name="adj" fmla="val 7500"/>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36" name="Text 34"/>
          <p:cNvSpPr/>
          <p:nvPr/>
        </p:nvSpPr>
        <p:spPr>
          <a:xfrm>
            <a:off x="777240" y="5468112"/>
            <a:ext cx="10607040" cy="868680"/>
          </a:xfrm>
          <a:prstGeom prst="rect">
            <a:avLst/>
          </a:prstGeom>
          <a:noFill/>
          <a:ln/>
        </p:spPr>
        <p:txBody>
          <a:bodyPr wrap="square" rtlCol="0" anchor="ctr"/>
          <a:lstStyle/>
          <a:p>
            <a:pPr marL="0" indent="0">
              <a:lnSpc>
                <a:spcPct val="125000"/>
              </a:lnSpc>
              <a:buNone/>
            </a:pPr>
            <a:r>
              <a:rPr lang="en-US" sz="1600" b="1" dirty="0">
                <a:solidFill>
                  <a:srgbClr val="21295C"/>
                </a:solidFill>
                <a:latin typeface="Calibri" pitchFamily="34" charset="0"/>
                <a:ea typeface="Calibri" pitchFamily="34" charset="-122"/>
                <a:cs typeface="Calibri" pitchFamily="34" charset="-120"/>
              </a:rPr>
              <a:t>Specialization  </a:t>
            </a:r>
            <a:r>
              <a:rPr lang="en-US" sz="1600" dirty="0">
                <a:solidFill>
                  <a:srgbClr val="16232E"/>
                </a:solidFill>
                <a:latin typeface="Calibri" pitchFamily="34" charset="0"/>
                <a:ea typeface="Calibri" pitchFamily="34" charset="-122"/>
                <a:cs typeface="Calibri" pitchFamily="34" charset="-120"/>
              </a:rPr>
              <a:t>breaks PERSON into meaningful subclasses with extra attributes (top-down). </a:t>
            </a:r>
            <a:r>
              <a:rPr lang="en-US" sz="1600" b="1" dirty="0">
                <a:solidFill>
                  <a:srgbClr val="21295C"/>
                </a:solidFill>
                <a:latin typeface="Calibri" pitchFamily="34" charset="0"/>
                <a:ea typeface="Calibri" pitchFamily="34" charset="-122"/>
                <a:cs typeface="Calibri" pitchFamily="34" charset="-120"/>
              </a:rPr>
              <a:t>Generalization  </a:t>
            </a:r>
            <a:r>
              <a:rPr lang="en-US" sz="1600" dirty="0">
                <a:solidFill>
                  <a:srgbClr val="16232E"/>
                </a:solidFill>
                <a:latin typeface="Calibri" pitchFamily="34" charset="0"/>
                <a:ea typeface="Calibri" pitchFamily="34" charset="-122"/>
                <a:cs typeface="Calibri" pitchFamily="34" charset="-120"/>
              </a:rPr>
              <a:t>is the reverse — combining Student/Faculty/Staff upward into a shared PERSON superclass (bottom-up), avoiding attribute duplication across university records.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7 · UNDERSTAND</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Data Independence</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08 / 12</a:t>
            </a:r>
            <a:endParaRPr lang="en-US" sz="1600" dirty="0"/>
          </a:p>
        </p:txBody>
      </p:sp>
      <p:sp>
        <p:nvSpPr>
          <p:cNvPr id="5" name="Shape 3"/>
          <p:cNvSpPr/>
          <p:nvPr/>
        </p:nvSpPr>
        <p:spPr>
          <a:xfrm>
            <a:off x="548640" y="1463040"/>
            <a:ext cx="5349240" cy="3246120"/>
          </a:xfrm>
          <a:prstGeom prst="roundRect">
            <a:avLst>
              <a:gd name="adj" fmla="val 2535"/>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6" name="Shape 4"/>
          <p:cNvSpPr/>
          <p:nvPr/>
        </p:nvSpPr>
        <p:spPr>
          <a:xfrm>
            <a:off x="548640" y="1463040"/>
            <a:ext cx="5349240" cy="502920"/>
          </a:xfrm>
          <a:prstGeom prst="rect">
            <a:avLst/>
          </a:prstGeom>
          <a:solidFill>
            <a:srgbClr val="1C7293"/>
          </a:solidFill>
          <a:ln/>
        </p:spPr>
      </p:sp>
      <p:sp>
        <p:nvSpPr>
          <p:cNvPr id="7" name="Text 5"/>
          <p:cNvSpPr/>
          <p:nvPr/>
        </p:nvSpPr>
        <p:spPr>
          <a:xfrm>
            <a:off x="548640" y="1463040"/>
            <a:ext cx="534924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Logical Data Independence</a:t>
            </a:r>
            <a:endParaRPr lang="en-US" sz="1600" dirty="0"/>
          </a:p>
        </p:txBody>
      </p:sp>
      <p:sp>
        <p:nvSpPr>
          <p:cNvPr id="8" name="Text 6"/>
          <p:cNvSpPr/>
          <p:nvPr/>
        </p:nvSpPr>
        <p:spPr>
          <a:xfrm>
            <a:off x="822960" y="2148840"/>
            <a:ext cx="4800600" cy="2377440"/>
          </a:xfrm>
          <a:prstGeom prst="rect">
            <a:avLst/>
          </a:prstGeom>
          <a:noFill/>
          <a:ln/>
        </p:spPr>
        <p:txBody>
          <a:bodyPr wrap="square" rtlCol="0" anchor="t"/>
          <a:lstStyle/>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Ability to change the conceptual (logical) schema — e.g. add a new table or attribute — without altering external views or application code.</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Protects applications from changes in overall database design.</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Harder to achieve than physical independence, since external views are derived directly from the conceptual schema.</a:t>
            </a:r>
            <a:endParaRPr lang="en-US" sz="1600" dirty="0"/>
          </a:p>
        </p:txBody>
      </p:sp>
      <p:sp>
        <p:nvSpPr>
          <p:cNvPr id="9" name="Shape 7"/>
          <p:cNvSpPr/>
          <p:nvPr/>
        </p:nvSpPr>
        <p:spPr>
          <a:xfrm>
            <a:off x="6080760" y="1463040"/>
            <a:ext cx="5532120" cy="3246120"/>
          </a:xfrm>
          <a:prstGeom prst="roundRect">
            <a:avLst>
              <a:gd name="adj" fmla="val 2535"/>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0" name="Shape 8"/>
          <p:cNvSpPr/>
          <p:nvPr/>
        </p:nvSpPr>
        <p:spPr>
          <a:xfrm>
            <a:off x="6080760" y="1463040"/>
            <a:ext cx="5532120" cy="502920"/>
          </a:xfrm>
          <a:prstGeom prst="rect">
            <a:avLst/>
          </a:prstGeom>
          <a:solidFill>
            <a:srgbClr val="065A82"/>
          </a:solidFill>
          <a:ln/>
        </p:spPr>
      </p:sp>
      <p:sp>
        <p:nvSpPr>
          <p:cNvPr id="11" name="Text 9"/>
          <p:cNvSpPr/>
          <p:nvPr/>
        </p:nvSpPr>
        <p:spPr>
          <a:xfrm>
            <a:off x="6080760" y="1463040"/>
            <a:ext cx="55321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Physical Data Independence</a:t>
            </a:r>
            <a:endParaRPr lang="en-US" sz="1600" dirty="0"/>
          </a:p>
        </p:txBody>
      </p:sp>
      <p:sp>
        <p:nvSpPr>
          <p:cNvPr id="12" name="Text 10"/>
          <p:cNvSpPr/>
          <p:nvPr/>
        </p:nvSpPr>
        <p:spPr>
          <a:xfrm>
            <a:off x="6355080" y="2148840"/>
            <a:ext cx="4983480" cy="2377440"/>
          </a:xfrm>
          <a:prstGeom prst="rect">
            <a:avLst/>
          </a:prstGeom>
          <a:noFill/>
          <a:ln/>
        </p:spPr>
        <p:txBody>
          <a:bodyPr wrap="square" rtlCol="0" anchor="t"/>
          <a:lstStyle/>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Ability to change the internal (storage) schema — e.g. reorganise files, add indexes, switch storage devices — without affecting the conceptual schema.</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Applications and users remain completely unaffected by storage-level tuning.</a:t>
            </a:r>
            <a:endParaRPr lang="en-US" sz="1600" dirty="0"/>
          </a:p>
          <a:p>
            <a:pPr marL="177800" indent="-177800" algn="l">
              <a:lnSpc>
                <a:spcPct val="108000"/>
              </a:lnSpc>
              <a:spcAft>
                <a:spcPts val="1200"/>
              </a:spcAft>
              <a:buSzPct val="100000"/>
              <a:buChar char="•"/>
            </a:pPr>
            <a:r>
              <a:rPr lang="en-US" sz="1600" dirty="0">
                <a:solidFill>
                  <a:srgbClr val="16232E"/>
                </a:solidFill>
                <a:latin typeface="Calibri" pitchFamily="34" charset="0"/>
                <a:ea typeface="Calibri" pitchFamily="34" charset="-122"/>
                <a:cs typeface="Calibri" pitchFamily="34" charset="-120"/>
              </a:rPr>
              <a:t>Relatively easier to achieve since it only requires updating the conceptual/internal mapping.</a:t>
            </a:r>
            <a:endParaRPr lang="en-US" sz="1600" dirty="0"/>
          </a:p>
        </p:txBody>
      </p:sp>
      <p:sp>
        <p:nvSpPr>
          <p:cNvPr id="13" name="Shape 11"/>
          <p:cNvSpPr/>
          <p:nvPr/>
        </p:nvSpPr>
        <p:spPr>
          <a:xfrm>
            <a:off x="548640" y="4892040"/>
            <a:ext cx="11064240" cy="1508760"/>
          </a:xfrm>
          <a:prstGeom prst="roundRect">
            <a:avLst>
              <a:gd name="adj" fmla="val 5455"/>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4" name="Text 12"/>
          <p:cNvSpPr/>
          <p:nvPr/>
        </p:nvSpPr>
        <p:spPr>
          <a:xfrm>
            <a:off x="822960" y="5029200"/>
            <a:ext cx="5486400" cy="32004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Significance in DBMS Architecture</a:t>
            </a:r>
            <a:endParaRPr lang="en-US" sz="1600" dirty="0"/>
          </a:p>
        </p:txBody>
      </p:sp>
      <p:sp>
        <p:nvSpPr>
          <p:cNvPr id="15" name="Text 13"/>
          <p:cNvSpPr/>
          <p:nvPr/>
        </p:nvSpPr>
        <p:spPr>
          <a:xfrm>
            <a:off x="822960" y="5394960"/>
            <a:ext cx="10515600" cy="914400"/>
          </a:xfrm>
          <a:prstGeom prst="rect">
            <a:avLst/>
          </a:prstGeom>
          <a:noFill/>
          <a:ln/>
        </p:spPr>
        <p:txBody>
          <a:bodyPr wrap="square" rtlCol="0" anchor="ctr"/>
          <a:lstStyle/>
          <a:p>
            <a:pPr marL="0" indent="0">
              <a:lnSpc>
                <a:spcPct val="120000"/>
              </a:lnSpc>
              <a:buNone/>
            </a:pPr>
            <a:r>
              <a:rPr lang="en-US" sz="1600" dirty="0">
                <a:solidFill>
                  <a:srgbClr val="16232E"/>
                </a:solidFill>
                <a:latin typeface="Calibri" pitchFamily="34" charset="0"/>
                <a:ea typeface="Calibri" pitchFamily="34" charset="-122"/>
                <a:cs typeface="Calibri" pitchFamily="34" charset="-120"/>
              </a:rPr>
              <a:t>Data independence is what makes the ANSI/SPARC three-level architecture work: the two mapping layers absorb changes at one level so they never ripple upward. This lets databases evolve — new indexes, restructured schemas, upgraded hardware — with minimal disruption, reduced maintenance cost, and no need to rewrite existing applications.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8 · REMEMBER</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Software Components of a DBMS</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09 / 12</a:t>
            </a:r>
            <a:endParaRPr lang="en-US" sz="1600" dirty="0"/>
          </a:p>
        </p:txBody>
      </p:sp>
      <p:sp>
        <p:nvSpPr>
          <p:cNvPr id="5" name="Shape 3"/>
          <p:cNvSpPr/>
          <p:nvPr/>
        </p:nvSpPr>
        <p:spPr>
          <a:xfrm>
            <a:off x="548640" y="1554480"/>
            <a:ext cx="3520440" cy="2834640"/>
          </a:xfrm>
          <a:prstGeom prst="roundRect">
            <a:avLst>
              <a:gd name="adj" fmla="val 2903"/>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6" name="Shape 4"/>
          <p:cNvSpPr/>
          <p:nvPr/>
        </p:nvSpPr>
        <p:spPr>
          <a:xfrm>
            <a:off x="1897380" y="1874520"/>
            <a:ext cx="822960" cy="822960"/>
          </a:xfrm>
          <a:prstGeom prst="ellipse">
            <a:avLst/>
          </a:prstGeom>
          <a:solidFill>
            <a:srgbClr val="065A82"/>
          </a:solidFill>
          <a:ln/>
        </p:spPr>
      </p:sp>
      <p:sp>
        <p:nvSpPr>
          <p:cNvPr id="7" name="Text 5"/>
          <p:cNvSpPr/>
          <p:nvPr/>
        </p:nvSpPr>
        <p:spPr>
          <a:xfrm>
            <a:off x="1897380" y="1874520"/>
            <a:ext cx="822960" cy="8229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548640" y="2880360"/>
            <a:ext cx="3520440" cy="365760"/>
          </a:xfrm>
          <a:prstGeom prst="rect">
            <a:avLst/>
          </a:prstGeom>
          <a:noFill/>
          <a:ln/>
        </p:spPr>
        <p:txBody>
          <a:bodyPr wrap="square"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Query Processor</a:t>
            </a:r>
            <a:endParaRPr lang="en-US" sz="1600" dirty="0"/>
          </a:p>
        </p:txBody>
      </p:sp>
      <p:sp>
        <p:nvSpPr>
          <p:cNvPr id="9" name="Text 7"/>
          <p:cNvSpPr/>
          <p:nvPr/>
        </p:nvSpPr>
        <p:spPr>
          <a:xfrm>
            <a:off x="822960" y="3337560"/>
            <a:ext cx="2971800" cy="1005840"/>
          </a:xfrm>
          <a:prstGeom prst="rect">
            <a:avLst/>
          </a:prstGeom>
          <a:noFill/>
          <a:ln/>
        </p:spPr>
        <p:txBody>
          <a:bodyPr wrap="square" rtlCol="0" anchor="ctr"/>
          <a:lstStyle/>
          <a:p>
            <a:pPr marL="0" indent="0" algn="ctr">
              <a:lnSpc>
                <a:spcPct val="120000"/>
              </a:lnSpc>
              <a:buNone/>
            </a:pPr>
            <a:r>
              <a:rPr lang="en-US" sz="1600" dirty="0">
                <a:solidFill>
                  <a:srgbClr val="16232E"/>
                </a:solidFill>
                <a:latin typeface="Calibri" pitchFamily="34" charset="0"/>
                <a:ea typeface="Calibri" pitchFamily="34" charset="-122"/>
                <a:cs typeface="Calibri" pitchFamily="34" charset="-120"/>
              </a:rPr>
              <a:t>Parses, optimises and translates user SQL queries into low-level instructions the storage engine can execute efficiently.</a:t>
            </a:r>
            <a:endParaRPr lang="en-US" sz="1600" dirty="0"/>
          </a:p>
        </p:txBody>
      </p:sp>
      <p:sp>
        <p:nvSpPr>
          <p:cNvPr id="10" name="Shape 8"/>
          <p:cNvSpPr/>
          <p:nvPr/>
        </p:nvSpPr>
        <p:spPr>
          <a:xfrm>
            <a:off x="4297680" y="1554480"/>
            <a:ext cx="3520440" cy="2834640"/>
          </a:xfrm>
          <a:prstGeom prst="roundRect">
            <a:avLst>
              <a:gd name="adj" fmla="val 2903"/>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1" name="Shape 9"/>
          <p:cNvSpPr/>
          <p:nvPr/>
        </p:nvSpPr>
        <p:spPr>
          <a:xfrm>
            <a:off x="5646420" y="1874520"/>
            <a:ext cx="822960" cy="822960"/>
          </a:xfrm>
          <a:prstGeom prst="ellipse">
            <a:avLst/>
          </a:prstGeom>
          <a:solidFill>
            <a:srgbClr val="1C7293"/>
          </a:solidFill>
          <a:ln/>
        </p:spPr>
      </p:sp>
      <p:sp>
        <p:nvSpPr>
          <p:cNvPr id="12" name="Text 10"/>
          <p:cNvSpPr/>
          <p:nvPr/>
        </p:nvSpPr>
        <p:spPr>
          <a:xfrm>
            <a:off x="5646420" y="1874520"/>
            <a:ext cx="822960" cy="8229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297680" y="2880360"/>
            <a:ext cx="3520440" cy="365760"/>
          </a:xfrm>
          <a:prstGeom prst="rect">
            <a:avLst/>
          </a:prstGeom>
          <a:noFill/>
          <a:ln/>
        </p:spPr>
        <p:txBody>
          <a:bodyPr wrap="square"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Storage Manager</a:t>
            </a:r>
            <a:endParaRPr lang="en-US" sz="1600" dirty="0"/>
          </a:p>
        </p:txBody>
      </p:sp>
      <p:sp>
        <p:nvSpPr>
          <p:cNvPr id="14" name="Text 12"/>
          <p:cNvSpPr/>
          <p:nvPr/>
        </p:nvSpPr>
        <p:spPr>
          <a:xfrm>
            <a:off x="4572000" y="3337560"/>
            <a:ext cx="2971800" cy="1005840"/>
          </a:xfrm>
          <a:prstGeom prst="rect">
            <a:avLst/>
          </a:prstGeom>
          <a:noFill/>
          <a:ln/>
        </p:spPr>
        <p:txBody>
          <a:bodyPr wrap="square" rtlCol="0" anchor="ctr"/>
          <a:lstStyle/>
          <a:p>
            <a:pPr marL="0" indent="0" algn="ctr">
              <a:lnSpc>
                <a:spcPct val="120000"/>
              </a:lnSpc>
              <a:buNone/>
            </a:pPr>
            <a:r>
              <a:rPr lang="en-US" sz="1600" dirty="0">
                <a:solidFill>
                  <a:srgbClr val="16232E"/>
                </a:solidFill>
                <a:latin typeface="Calibri" pitchFamily="34" charset="0"/>
                <a:ea typeface="Calibri" pitchFamily="34" charset="-122"/>
                <a:cs typeface="Calibri" pitchFamily="34" charset="-120"/>
              </a:rPr>
              <a:t>Handles physical placement of data, indexes and buffers; interfaces directly with the operating system's file system.</a:t>
            </a:r>
            <a:endParaRPr lang="en-US" sz="1600" dirty="0"/>
          </a:p>
        </p:txBody>
      </p:sp>
      <p:sp>
        <p:nvSpPr>
          <p:cNvPr id="15" name="Shape 13"/>
          <p:cNvSpPr/>
          <p:nvPr/>
        </p:nvSpPr>
        <p:spPr>
          <a:xfrm>
            <a:off x="8046720" y="1554480"/>
            <a:ext cx="3520440" cy="2834640"/>
          </a:xfrm>
          <a:prstGeom prst="roundRect">
            <a:avLst>
              <a:gd name="adj" fmla="val 2903"/>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6" name="Shape 14"/>
          <p:cNvSpPr/>
          <p:nvPr/>
        </p:nvSpPr>
        <p:spPr>
          <a:xfrm>
            <a:off x="9395460" y="1874520"/>
            <a:ext cx="822960" cy="822960"/>
          </a:xfrm>
          <a:prstGeom prst="ellipse">
            <a:avLst/>
          </a:prstGeom>
          <a:solidFill>
            <a:srgbClr val="21295C"/>
          </a:solidFill>
          <a:ln/>
        </p:spPr>
      </p:sp>
      <p:sp>
        <p:nvSpPr>
          <p:cNvPr id="17" name="Text 15"/>
          <p:cNvSpPr/>
          <p:nvPr/>
        </p:nvSpPr>
        <p:spPr>
          <a:xfrm>
            <a:off x="9395460" y="1874520"/>
            <a:ext cx="822960" cy="8229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046720" y="2880360"/>
            <a:ext cx="3520440" cy="365760"/>
          </a:xfrm>
          <a:prstGeom prst="rect">
            <a:avLst/>
          </a:prstGeom>
          <a:noFill/>
          <a:ln/>
        </p:spPr>
        <p:txBody>
          <a:bodyPr wrap="square" rtlCol="0" anchor="ctr"/>
          <a:lstStyle/>
          <a:p>
            <a:pPr marL="0" indent="0" algn="ctr">
              <a:buNone/>
            </a:pPr>
            <a:r>
              <a:rPr lang="en-US" sz="1600" b="1" dirty="0">
                <a:solidFill>
                  <a:srgbClr val="21295C"/>
                </a:solidFill>
                <a:latin typeface="Cambria" pitchFamily="34" charset="0"/>
                <a:ea typeface="Cambria" pitchFamily="34" charset="-122"/>
                <a:cs typeface="Cambria" pitchFamily="34" charset="-120"/>
              </a:rPr>
              <a:t>Transaction Manager</a:t>
            </a:r>
            <a:endParaRPr lang="en-US" sz="1600" dirty="0"/>
          </a:p>
        </p:txBody>
      </p:sp>
      <p:sp>
        <p:nvSpPr>
          <p:cNvPr id="19" name="Text 17"/>
          <p:cNvSpPr/>
          <p:nvPr/>
        </p:nvSpPr>
        <p:spPr>
          <a:xfrm>
            <a:off x="8321040" y="3337560"/>
            <a:ext cx="2971800" cy="1005840"/>
          </a:xfrm>
          <a:prstGeom prst="rect">
            <a:avLst/>
          </a:prstGeom>
          <a:noFill/>
          <a:ln/>
        </p:spPr>
        <p:txBody>
          <a:bodyPr wrap="square" rtlCol="0" anchor="ctr"/>
          <a:lstStyle/>
          <a:p>
            <a:pPr marL="0" indent="0" algn="ctr">
              <a:lnSpc>
                <a:spcPct val="120000"/>
              </a:lnSpc>
              <a:buNone/>
            </a:pPr>
            <a:r>
              <a:rPr lang="en-US" sz="1600" dirty="0">
                <a:solidFill>
                  <a:srgbClr val="16232E"/>
                </a:solidFill>
                <a:latin typeface="Calibri" pitchFamily="34" charset="0"/>
                <a:ea typeface="Calibri" pitchFamily="34" charset="-122"/>
                <a:cs typeface="Calibri" pitchFamily="34" charset="-120"/>
              </a:rPr>
              <a:t>Ensures ACID properties — coordinates concurrency control, logging, and recovery so transactions stay reliable.</a:t>
            </a:r>
            <a:endParaRPr lang="en-US" sz="1600" dirty="0"/>
          </a:p>
        </p:txBody>
      </p:sp>
      <p:sp>
        <p:nvSpPr>
          <p:cNvPr id="20" name="Shape 18"/>
          <p:cNvSpPr/>
          <p:nvPr/>
        </p:nvSpPr>
        <p:spPr>
          <a:xfrm>
            <a:off x="4114800" y="2971800"/>
            <a:ext cx="137160" cy="0"/>
          </a:xfrm>
          <a:prstGeom prst="line">
            <a:avLst/>
          </a:prstGeom>
          <a:noFill/>
          <a:ln w="19050">
            <a:solidFill>
              <a:srgbClr val="5C7488"/>
            </a:solidFill>
            <a:prstDash val="solid"/>
          </a:ln>
        </p:spPr>
      </p:sp>
      <p:sp>
        <p:nvSpPr>
          <p:cNvPr id="21" name="Shape 19"/>
          <p:cNvSpPr/>
          <p:nvPr/>
        </p:nvSpPr>
        <p:spPr>
          <a:xfrm>
            <a:off x="7863840" y="2971800"/>
            <a:ext cx="137160" cy="0"/>
          </a:xfrm>
          <a:prstGeom prst="line">
            <a:avLst/>
          </a:prstGeom>
          <a:noFill/>
          <a:ln w="19050">
            <a:solidFill>
              <a:srgbClr val="5C7488"/>
            </a:solidFill>
            <a:prstDash val="solid"/>
          </a:ln>
        </p:spPr>
      </p:sp>
      <p:sp>
        <p:nvSpPr>
          <p:cNvPr id="22" name="Text 20"/>
          <p:cNvSpPr/>
          <p:nvPr/>
        </p:nvSpPr>
        <p:spPr>
          <a:xfrm>
            <a:off x="4023360" y="2788920"/>
            <a:ext cx="320040" cy="365760"/>
          </a:xfrm>
          <a:prstGeom prst="rect">
            <a:avLst/>
          </a:prstGeom>
          <a:noFill/>
          <a:ln/>
        </p:spPr>
        <p:txBody>
          <a:bodyPr wrap="square" rtlCol="0" anchor="ctr"/>
          <a:lstStyle/>
          <a:p>
            <a:pPr marL="0" indent="0" algn="ctr">
              <a:buNone/>
            </a:pPr>
            <a:r>
              <a:rPr lang="en-US" sz="1600" dirty="0">
                <a:solidFill>
                  <a:srgbClr val="5C7488"/>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7772400" y="2788920"/>
            <a:ext cx="320040" cy="365760"/>
          </a:xfrm>
          <a:prstGeom prst="rect">
            <a:avLst/>
          </a:prstGeom>
          <a:noFill/>
          <a:ln/>
        </p:spPr>
        <p:txBody>
          <a:bodyPr wrap="square" rtlCol="0" anchor="ctr"/>
          <a:lstStyle/>
          <a:p>
            <a:pPr marL="0" indent="0" algn="ctr">
              <a:buNone/>
            </a:pPr>
            <a:r>
              <a:rPr lang="en-US" sz="1600" dirty="0">
                <a:solidFill>
                  <a:srgbClr val="5C7488"/>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8640" y="4617720"/>
            <a:ext cx="11064240" cy="1783080"/>
          </a:xfrm>
          <a:prstGeom prst="roundRect">
            <a:avLst>
              <a:gd name="adj" fmla="val 4615"/>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25" name="Text 23"/>
          <p:cNvSpPr/>
          <p:nvPr/>
        </p:nvSpPr>
        <p:spPr>
          <a:xfrm>
            <a:off x="822960" y="4754880"/>
            <a:ext cx="5486400" cy="32004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How they work together</a:t>
            </a:r>
            <a:endParaRPr lang="en-US" sz="1600" dirty="0"/>
          </a:p>
        </p:txBody>
      </p:sp>
      <p:sp>
        <p:nvSpPr>
          <p:cNvPr id="26" name="Text 24"/>
          <p:cNvSpPr/>
          <p:nvPr/>
        </p:nvSpPr>
        <p:spPr>
          <a:xfrm>
            <a:off x="822960" y="5120640"/>
            <a:ext cx="10424160" cy="1234440"/>
          </a:xfrm>
          <a:prstGeom prst="rect">
            <a:avLst/>
          </a:prstGeom>
          <a:noFill/>
          <a:ln/>
        </p:spPr>
        <p:txBody>
          <a:bodyPr wrap="square" rtlCol="0" anchor="t"/>
          <a:lstStyle/>
          <a:p>
            <a:pPr marL="177800" indent="-177800" algn="l">
              <a:lnSpc>
                <a:spcPct val="108000"/>
              </a:lnSpc>
              <a:spcAft>
                <a:spcPts val="600"/>
              </a:spcAft>
              <a:buSzPct val="100000"/>
              <a:buChar char="•"/>
            </a:pPr>
            <a:r>
              <a:rPr lang="en-US" sz="1600" dirty="0">
                <a:solidFill>
                  <a:srgbClr val="16232E"/>
                </a:solidFill>
                <a:latin typeface="Calibri" pitchFamily="34" charset="0"/>
                <a:ea typeface="Calibri" pitchFamily="34" charset="-122"/>
                <a:cs typeface="Calibri" pitchFamily="34" charset="-120"/>
              </a:rPr>
              <a:t>A user submits SQL → the Query Processor parses and builds an optimal execution plan.</a:t>
            </a:r>
            <a:endParaRPr lang="en-US" sz="1600" dirty="0"/>
          </a:p>
          <a:p>
            <a:pPr marL="177800" indent="-177800" algn="l">
              <a:lnSpc>
                <a:spcPct val="108000"/>
              </a:lnSpc>
              <a:spcAft>
                <a:spcPts val="600"/>
              </a:spcAft>
              <a:buSzPct val="100000"/>
              <a:buChar char="•"/>
            </a:pPr>
            <a:r>
              <a:rPr lang="en-US" sz="1600" dirty="0">
                <a:solidFill>
                  <a:srgbClr val="16232E"/>
                </a:solidFill>
                <a:latin typeface="Calibri" pitchFamily="34" charset="0"/>
                <a:ea typeface="Calibri" pitchFamily="34" charset="-122"/>
                <a:cs typeface="Calibri" pitchFamily="34" charset="-120"/>
              </a:rPr>
              <a:t>The Storage Manager retrieves or writes the required blocks from disk/buffer pool using that plan.</a:t>
            </a:r>
            <a:endParaRPr lang="en-US" sz="1600" dirty="0"/>
          </a:p>
          <a:p>
            <a:pPr marL="177800" indent="-177800" algn="l">
              <a:lnSpc>
                <a:spcPct val="108000"/>
              </a:lnSpc>
              <a:spcAft>
                <a:spcPts val="600"/>
              </a:spcAft>
              <a:buSzPct val="100000"/>
              <a:buChar char="•"/>
            </a:pPr>
            <a:r>
              <a:rPr lang="en-US" sz="1600" dirty="0">
                <a:solidFill>
                  <a:srgbClr val="16232E"/>
                </a:solidFill>
                <a:latin typeface="Calibri" pitchFamily="34" charset="0"/>
                <a:ea typeface="Calibri" pitchFamily="34" charset="-122"/>
                <a:cs typeface="Calibri" pitchFamily="34" charset="-120"/>
              </a:rPr>
              <a:t>The Transaction Manager wraps the whole operation, guaranteeing atomicity, consistency, isolation and durability (ACID), even under concurrent access or failure.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TOPIC 9 · UNDERSTAND</a:t>
            </a:r>
            <a:endParaRPr lang="en-US" sz="1600" dirty="0"/>
          </a:p>
        </p:txBody>
      </p:sp>
      <p:sp>
        <p:nvSpPr>
          <p:cNvPr id="3" name="Text 1"/>
          <p:cNvSpPr/>
          <p:nvPr/>
        </p:nvSpPr>
        <p:spPr>
          <a:xfrm>
            <a:off x="548640" y="566928"/>
            <a:ext cx="10607040" cy="6858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Strong vs Weak Entities in ER Modeling</a:t>
            </a:r>
            <a:endParaRPr lang="en-US" sz="16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600" dirty="0">
                <a:solidFill>
                  <a:srgbClr val="5C7488"/>
                </a:solidFill>
                <a:latin typeface="Calibri" pitchFamily="34" charset="0"/>
                <a:ea typeface="Calibri" pitchFamily="34" charset="-122"/>
                <a:cs typeface="Calibri" pitchFamily="34" charset="-120"/>
              </a:rPr>
              <a:t>10 / 12</a:t>
            </a:r>
            <a:endParaRPr lang="en-US" sz="1600" dirty="0"/>
          </a:p>
        </p:txBody>
      </p:sp>
      <p:sp>
        <p:nvSpPr>
          <p:cNvPr id="5" name="Shape 3"/>
          <p:cNvSpPr/>
          <p:nvPr/>
        </p:nvSpPr>
        <p:spPr>
          <a:xfrm>
            <a:off x="548640" y="1463040"/>
            <a:ext cx="5349240" cy="2743200"/>
          </a:xfrm>
          <a:prstGeom prst="roundRect">
            <a:avLst>
              <a:gd name="adj" fmla="val 3000"/>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6" name="Text 4"/>
          <p:cNvSpPr/>
          <p:nvPr/>
        </p:nvSpPr>
        <p:spPr>
          <a:xfrm>
            <a:off x="822960" y="1645920"/>
            <a:ext cx="3657600" cy="32004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Strong Entity</a:t>
            </a:r>
            <a:endParaRPr lang="en-US" sz="1600" dirty="0"/>
          </a:p>
        </p:txBody>
      </p:sp>
      <p:sp>
        <p:nvSpPr>
          <p:cNvPr id="7" name="Shape 5"/>
          <p:cNvSpPr/>
          <p:nvPr/>
        </p:nvSpPr>
        <p:spPr>
          <a:xfrm>
            <a:off x="1463040" y="2103120"/>
            <a:ext cx="1828800" cy="548640"/>
          </a:xfrm>
          <a:prstGeom prst="rect">
            <a:avLst/>
          </a:prstGeom>
          <a:solidFill>
            <a:srgbClr val="065A82"/>
          </a:solidFill>
          <a:ln w="15875">
            <a:solidFill>
              <a:srgbClr val="21295C"/>
            </a:solidFill>
            <a:prstDash val="solid"/>
          </a:ln>
        </p:spPr>
      </p:sp>
      <p:sp>
        <p:nvSpPr>
          <p:cNvPr id="8" name="Text 6"/>
          <p:cNvSpPr/>
          <p:nvPr/>
        </p:nvSpPr>
        <p:spPr>
          <a:xfrm>
            <a:off x="1463040" y="2103120"/>
            <a:ext cx="182880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CUSTOMER</a:t>
            </a:r>
            <a:endParaRPr lang="en-US" sz="1600" dirty="0"/>
          </a:p>
        </p:txBody>
      </p:sp>
      <p:sp>
        <p:nvSpPr>
          <p:cNvPr id="9" name="Shape 7"/>
          <p:cNvSpPr/>
          <p:nvPr/>
        </p:nvSpPr>
        <p:spPr>
          <a:xfrm>
            <a:off x="1005840" y="2926080"/>
            <a:ext cx="1005840" cy="365760"/>
          </a:xfrm>
          <a:prstGeom prst="ellipse">
            <a:avLst/>
          </a:prstGeom>
          <a:solidFill>
            <a:srgbClr val="CFE8F0"/>
          </a:solidFill>
          <a:ln w="12700">
            <a:solidFill>
              <a:srgbClr val="1C7293"/>
            </a:solidFill>
            <a:prstDash val="solid"/>
          </a:ln>
        </p:spPr>
      </p:sp>
      <p:sp>
        <p:nvSpPr>
          <p:cNvPr id="10" name="Text 8"/>
          <p:cNvSpPr/>
          <p:nvPr/>
        </p:nvSpPr>
        <p:spPr>
          <a:xfrm>
            <a:off x="1005840" y="2926080"/>
            <a:ext cx="1005840" cy="365760"/>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CustID (PK)</a:t>
            </a:r>
            <a:endParaRPr lang="en-US" sz="1600" dirty="0"/>
          </a:p>
        </p:txBody>
      </p:sp>
      <p:sp>
        <p:nvSpPr>
          <p:cNvPr id="11" name="Shape 9"/>
          <p:cNvSpPr/>
          <p:nvPr/>
        </p:nvSpPr>
        <p:spPr>
          <a:xfrm>
            <a:off x="1508760" y="2651760"/>
            <a:ext cx="0" cy="274320"/>
          </a:xfrm>
          <a:prstGeom prst="line">
            <a:avLst/>
          </a:prstGeom>
          <a:noFill/>
          <a:ln w="19050">
            <a:solidFill>
              <a:srgbClr val="1C7293"/>
            </a:solidFill>
            <a:prstDash val="solid"/>
          </a:ln>
        </p:spPr>
      </p:sp>
      <p:sp>
        <p:nvSpPr>
          <p:cNvPr id="12" name="Shape 10"/>
          <p:cNvSpPr/>
          <p:nvPr/>
        </p:nvSpPr>
        <p:spPr>
          <a:xfrm>
            <a:off x="2331720" y="2926080"/>
            <a:ext cx="1005840" cy="365760"/>
          </a:xfrm>
          <a:prstGeom prst="ellipse">
            <a:avLst/>
          </a:prstGeom>
          <a:solidFill>
            <a:srgbClr val="CFE8F0"/>
          </a:solidFill>
          <a:ln w="12700">
            <a:solidFill>
              <a:srgbClr val="1C7293"/>
            </a:solidFill>
            <a:prstDash val="solid"/>
          </a:ln>
        </p:spPr>
      </p:sp>
      <p:sp>
        <p:nvSpPr>
          <p:cNvPr id="13" name="Text 11"/>
          <p:cNvSpPr/>
          <p:nvPr/>
        </p:nvSpPr>
        <p:spPr>
          <a:xfrm>
            <a:off x="2331720" y="2926080"/>
            <a:ext cx="1005840" cy="365760"/>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Name</a:t>
            </a:r>
            <a:endParaRPr lang="en-US" sz="1600" dirty="0"/>
          </a:p>
        </p:txBody>
      </p:sp>
      <p:sp>
        <p:nvSpPr>
          <p:cNvPr id="14" name="Shape 12"/>
          <p:cNvSpPr/>
          <p:nvPr/>
        </p:nvSpPr>
        <p:spPr>
          <a:xfrm>
            <a:off x="2834640" y="2651760"/>
            <a:ext cx="0" cy="274320"/>
          </a:xfrm>
          <a:prstGeom prst="line">
            <a:avLst/>
          </a:prstGeom>
          <a:noFill/>
          <a:ln w="19050">
            <a:solidFill>
              <a:srgbClr val="1C7293"/>
            </a:solidFill>
            <a:prstDash val="solid"/>
          </a:ln>
        </p:spPr>
      </p:sp>
      <p:sp>
        <p:nvSpPr>
          <p:cNvPr id="15" name="Shape 13"/>
          <p:cNvSpPr/>
          <p:nvPr/>
        </p:nvSpPr>
        <p:spPr>
          <a:xfrm>
            <a:off x="2377440" y="2651760"/>
            <a:ext cx="0" cy="274320"/>
          </a:xfrm>
          <a:prstGeom prst="line">
            <a:avLst/>
          </a:prstGeom>
          <a:noFill/>
          <a:ln w="19050">
            <a:solidFill>
              <a:srgbClr val="1C7293"/>
            </a:solidFill>
            <a:prstDash val="solid"/>
          </a:ln>
        </p:spPr>
      </p:sp>
      <p:sp>
        <p:nvSpPr>
          <p:cNvPr id="16" name="Text 14"/>
          <p:cNvSpPr/>
          <p:nvPr/>
        </p:nvSpPr>
        <p:spPr>
          <a:xfrm>
            <a:off x="822960" y="3520440"/>
            <a:ext cx="4800600" cy="594360"/>
          </a:xfrm>
          <a:prstGeom prst="rect">
            <a:avLst/>
          </a:prstGeom>
          <a:noFill/>
          <a:ln/>
        </p:spPr>
        <p:txBody>
          <a:bodyPr wrap="square" rtlCol="0" anchor="ctr"/>
          <a:lstStyle/>
          <a:p>
            <a:pPr marL="0" indent="0">
              <a:lnSpc>
                <a:spcPct val="120000"/>
              </a:lnSpc>
              <a:buNone/>
            </a:pPr>
            <a:r>
              <a:rPr lang="en-US" sz="1600" dirty="0">
                <a:solidFill>
                  <a:srgbClr val="16232E"/>
                </a:solidFill>
                <a:latin typeface="Calibri" pitchFamily="34" charset="0"/>
                <a:ea typeface="Calibri" pitchFamily="34" charset="-122"/>
                <a:cs typeface="Calibri" pitchFamily="34" charset="-120"/>
              </a:rPr>
              <a:t>Has its own primary key and can exist independently. Example: Customer, Employee, Book.</a:t>
            </a:r>
            <a:endParaRPr lang="en-US" sz="1600" dirty="0"/>
          </a:p>
        </p:txBody>
      </p:sp>
      <p:sp>
        <p:nvSpPr>
          <p:cNvPr id="17" name="Shape 15"/>
          <p:cNvSpPr/>
          <p:nvPr/>
        </p:nvSpPr>
        <p:spPr>
          <a:xfrm>
            <a:off x="6080760" y="1463040"/>
            <a:ext cx="5532120" cy="2743200"/>
          </a:xfrm>
          <a:prstGeom prst="roundRect">
            <a:avLst>
              <a:gd name="adj" fmla="val 3000"/>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18" name="Text 16"/>
          <p:cNvSpPr/>
          <p:nvPr/>
        </p:nvSpPr>
        <p:spPr>
          <a:xfrm>
            <a:off x="6355080" y="1645920"/>
            <a:ext cx="3657600" cy="32004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Weak Entity</a:t>
            </a:r>
            <a:endParaRPr lang="en-US" sz="1600" dirty="0"/>
          </a:p>
        </p:txBody>
      </p:sp>
      <p:sp>
        <p:nvSpPr>
          <p:cNvPr id="19" name="Shape 17"/>
          <p:cNvSpPr/>
          <p:nvPr/>
        </p:nvSpPr>
        <p:spPr>
          <a:xfrm>
            <a:off x="6858000" y="2103120"/>
            <a:ext cx="1828800" cy="548640"/>
          </a:xfrm>
          <a:prstGeom prst="rect">
            <a:avLst/>
          </a:prstGeom>
          <a:solidFill>
            <a:srgbClr val="065A82"/>
          </a:solidFill>
          <a:ln w="15875">
            <a:solidFill>
              <a:srgbClr val="21295C"/>
            </a:solidFill>
            <a:prstDash val="solid"/>
          </a:ln>
        </p:spPr>
      </p:sp>
      <p:sp>
        <p:nvSpPr>
          <p:cNvPr id="20" name="Text 18"/>
          <p:cNvSpPr/>
          <p:nvPr/>
        </p:nvSpPr>
        <p:spPr>
          <a:xfrm>
            <a:off x="6858000" y="2103120"/>
            <a:ext cx="182880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EMPLOYEE</a:t>
            </a:r>
            <a:endParaRPr lang="en-US" sz="1600" dirty="0"/>
          </a:p>
        </p:txBody>
      </p:sp>
      <p:sp>
        <p:nvSpPr>
          <p:cNvPr id="21" name="Shape 19"/>
          <p:cNvSpPr/>
          <p:nvPr/>
        </p:nvSpPr>
        <p:spPr>
          <a:xfrm>
            <a:off x="8915400" y="2148840"/>
            <a:ext cx="1051560" cy="457200"/>
          </a:xfrm>
          <a:prstGeom prst="diamond">
            <a:avLst/>
          </a:prstGeom>
          <a:solidFill>
            <a:srgbClr val="F2B134"/>
          </a:solidFill>
          <a:ln w="12700">
            <a:solidFill>
              <a:srgbClr val="21295C"/>
            </a:solidFill>
            <a:prstDash val="solid"/>
          </a:ln>
        </p:spPr>
      </p:sp>
      <p:sp>
        <p:nvSpPr>
          <p:cNvPr id="22" name="Text 20"/>
          <p:cNvSpPr/>
          <p:nvPr/>
        </p:nvSpPr>
        <p:spPr>
          <a:xfrm>
            <a:off x="8686800" y="2148840"/>
            <a:ext cx="1508760" cy="457200"/>
          </a:xfrm>
          <a:prstGeom prst="rect">
            <a:avLst/>
          </a:prstGeom>
          <a:noFill/>
          <a:ln/>
        </p:spPr>
        <p:txBody>
          <a:bodyPr wrap="square" rtlCol="0" anchor="ctr"/>
          <a:lstStyle/>
          <a:p>
            <a:pPr marL="0" indent="0" algn="ctr">
              <a:buNone/>
            </a:pPr>
            <a:r>
              <a:rPr lang="en-US" sz="1600" b="1" dirty="0">
                <a:solidFill>
                  <a:srgbClr val="21295C"/>
                </a:solidFill>
                <a:latin typeface="Calibri" pitchFamily="34" charset="0"/>
                <a:ea typeface="Calibri" pitchFamily="34" charset="-122"/>
                <a:cs typeface="Calibri" pitchFamily="34" charset="-120"/>
              </a:rPr>
              <a:t>HAS</a:t>
            </a:r>
            <a:endParaRPr lang="en-US" sz="1600" dirty="0"/>
          </a:p>
        </p:txBody>
      </p:sp>
      <p:sp>
        <p:nvSpPr>
          <p:cNvPr id="23" name="Shape 21"/>
          <p:cNvSpPr/>
          <p:nvPr/>
        </p:nvSpPr>
        <p:spPr>
          <a:xfrm>
            <a:off x="10158984" y="2066544"/>
            <a:ext cx="1810512" cy="621792"/>
          </a:xfrm>
          <a:prstGeom prst="rect">
            <a:avLst/>
          </a:prstGeom>
          <a:solidFill>
            <a:srgbClr val="FFFFFF"/>
          </a:solidFill>
          <a:ln w="19050">
            <a:solidFill>
              <a:srgbClr val="21295C"/>
            </a:solidFill>
            <a:prstDash val="solid"/>
          </a:ln>
        </p:spPr>
      </p:sp>
      <p:sp>
        <p:nvSpPr>
          <p:cNvPr id="24" name="Shape 22"/>
          <p:cNvSpPr/>
          <p:nvPr/>
        </p:nvSpPr>
        <p:spPr>
          <a:xfrm>
            <a:off x="10195560" y="2103120"/>
            <a:ext cx="1737360" cy="548640"/>
          </a:xfrm>
          <a:prstGeom prst="rect">
            <a:avLst/>
          </a:prstGeom>
          <a:solidFill>
            <a:srgbClr val="1C7293"/>
          </a:solidFill>
          <a:ln w="15875">
            <a:solidFill>
              <a:srgbClr val="21295C"/>
            </a:solidFill>
            <a:prstDash val="solid"/>
          </a:ln>
        </p:spPr>
      </p:sp>
      <p:sp>
        <p:nvSpPr>
          <p:cNvPr id="25" name="Text 23"/>
          <p:cNvSpPr/>
          <p:nvPr/>
        </p:nvSpPr>
        <p:spPr>
          <a:xfrm>
            <a:off x="10195560" y="2103120"/>
            <a:ext cx="173736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DEPENDENT</a:t>
            </a:r>
            <a:endParaRPr lang="en-US" sz="1600" dirty="0"/>
          </a:p>
        </p:txBody>
      </p:sp>
      <p:sp>
        <p:nvSpPr>
          <p:cNvPr id="26" name="Shape 24"/>
          <p:cNvSpPr/>
          <p:nvPr/>
        </p:nvSpPr>
        <p:spPr>
          <a:xfrm>
            <a:off x="8686800" y="2377440"/>
            <a:ext cx="228600" cy="0"/>
          </a:xfrm>
          <a:prstGeom prst="line">
            <a:avLst/>
          </a:prstGeom>
          <a:noFill/>
          <a:ln w="19050">
            <a:solidFill>
              <a:srgbClr val="21295C"/>
            </a:solidFill>
            <a:prstDash val="solid"/>
          </a:ln>
        </p:spPr>
      </p:sp>
      <p:sp>
        <p:nvSpPr>
          <p:cNvPr id="27" name="Shape 25"/>
          <p:cNvSpPr/>
          <p:nvPr/>
        </p:nvSpPr>
        <p:spPr>
          <a:xfrm>
            <a:off x="9966960" y="2377440"/>
            <a:ext cx="228600" cy="0"/>
          </a:xfrm>
          <a:prstGeom prst="line">
            <a:avLst/>
          </a:prstGeom>
          <a:noFill/>
          <a:ln w="19050">
            <a:solidFill>
              <a:srgbClr val="21295C"/>
            </a:solidFill>
            <a:prstDash val="solid"/>
          </a:ln>
        </p:spPr>
      </p:sp>
      <p:sp>
        <p:nvSpPr>
          <p:cNvPr id="28" name="Shape 26"/>
          <p:cNvSpPr/>
          <p:nvPr/>
        </p:nvSpPr>
        <p:spPr>
          <a:xfrm>
            <a:off x="10195560" y="2926080"/>
            <a:ext cx="1005840" cy="365760"/>
          </a:xfrm>
          <a:prstGeom prst="ellipse">
            <a:avLst/>
          </a:prstGeom>
          <a:solidFill>
            <a:srgbClr val="CFE8F0"/>
          </a:solidFill>
          <a:ln w="12700">
            <a:solidFill>
              <a:srgbClr val="1C7293"/>
            </a:solidFill>
            <a:prstDash val="solid"/>
          </a:ln>
        </p:spPr>
      </p:sp>
      <p:sp>
        <p:nvSpPr>
          <p:cNvPr id="29" name="Text 27"/>
          <p:cNvSpPr/>
          <p:nvPr/>
        </p:nvSpPr>
        <p:spPr>
          <a:xfrm>
            <a:off x="10195560" y="2926080"/>
            <a:ext cx="1005840" cy="365760"/>
          </a:xfrm>
          <a:prstGeom prst="rect">
            <a:avLst/>
          </a:prstGeom>
          <a:noFill/>
          <a:ln/>
        </p:spPr>
        <p:txBody>
          <a:bodyPr wrap="square" rtlCol="0" anchor="ctr"/>
          <a:lstStyle/>
          <a:p>
            <a:pPr marL="0" indent="0" algn="ctr">
              <a:buNone/>
            </a:pPr>
            <a:r>
              <a:rPr lang="en-US" sz="1600" dirty="0">
                <a:solidFill>
                  <a:srgbClr val="21295C"/>
                </a:solidFill>
                <a:latin typeface="Calibri" pitchFamily="34" charset="0"/>
                <a:ea typeface="Calibri" pitchFamily="34" charset="-122"/>
                <a:cs typeface="Calibri" pitchFamily="34" charset="-120"/>
              </a:rPr>
              <a:t>Name (disc.)</a:t>
            </a:r>
            <a:endParaRPr lang="en-US" sz="1600" dirty="0"/>
          </a:p>
        </p:txBody>
      </p:sp>
      <p:sp>
        <p:nvSpPr>
          <p:cNvPr id="30" name="Shape 28"/>
          <p:cNvSpPr/>
          <p:nvPr/>
        </p:nvSpPr>
        <p:spPr>
          <a:xfrm>
            <a:off x="10698480" y="2651760"/>
            <a:ext cx="0" cy="274320"/>
          </a:xfrm>
          <a:prstGeom prst="line">
            <a:avLst/>
          </a:prstGeom>
          <a:noFill/>
          <a:ln w="19050">
            <a:solidFill>
              <a:srgbClr val="1C7293"/>
            </a:solidFill>
            <a:prstDash val="solid"/>
          </a:ln>
        </p:spPr>
      </p:sp>
      <p:sp>
        <p:nvSpPr>
          <p:cNvPr id="31" name="Text 29"/>
          <p:cNvSpPr/>
          <p:nvPr/>
        </p:nvSpPr>
        <p:spPr>
          <a:xfrm>
            <a:off x="6080760" y="3520440"/>
            <a:ext cx="5715000" cy="649225"/>
          </a:xfrm>
          <a:prstGeom prst="rect">
            <a:avLst/>
          </a:prstGeom>
          <a:noFill/>
          <a:ln/>
        </p:spPr>
        <p:txBody>
          <a:bodyPr wrap="square" rtlCol="0" anchor="ctr"/>
          <a:lstStyle/>
          <a:p>
            <a:pPr marL="0" indent="0">
              <a:lnSpc>
                <a:spcPct val="120000"/>
              </a:lnSpc>
              <a:buNone/>
            </a:pPr>
            <a:r>
              <a:rPr lang="en-US" sz="1500" dirty="0">
                <a:solidFill>
                  <a:srgbClr val="16232E"/>
                </a:solidFill>
                <a:latin typeface="Calibri" pitchFamily="34" charset="0"/>
                <a:ea typeface="Calibri" pitchFamily="34" charset="-122"/>
                <a:cs typeface="Calibri" pitchFamily="34" charset="-120"/>
              </a:rPr>
              <a:t>Has no full primary key of its own — identified only through its owner entity plus a discriminator. Example: Dependent (of Employee), Order Item (of Order). Shown with double-lined rectangle.</a:t>
            </a:r>
            <a:endParaRPr lang="en-US" sz="1500" dirty="0"/>
          </a:p>
        </p:txBody>
      </p:sp>
      <p:sp>
        <p:nvSpPr>
          <p:cNvPr id="32" name="Shape 30"/>
          <p:cNvSpPr/>
          <p:nvPr/>
        </p:nvSpPr>
        <p:spPr>
          <a:xfrm>
            <a:off x="548640" y="4480560"/>
            <a:ext cx="11064240" cy="1874520"/>
          </a:xfrm>
          <a:prstGeom prst="roundRect">
            <a:avLst>
              <a:gd name="adj" fmla="val 4390"/>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33" name="Text 31"/>
          <p:cNvSpPr/>
          <p:nvPr/>
        </p:nvSpPr>
        <p:spPr>
          <a:xfrm>
            <a:off x="822960" y="4617720"/>
            <a:ext cx="5486400" cy="32004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Key Differences</a:t>
            </a:r>
            <a:endParaRPr lang="en-US" sz="1600" dirty="0"/>
          </a:p>
        </p:txBody>
      </p:sp>
      <p:sp>
        <p:nvSpPr>
          <p:cNvPr id="34" name="Text 32"/>
          <p:cNvSpPr/>
          <p:nvPr/>
        </p:nvSpPr>
        <p:spPr>
          <a:xfrm>
            <a:off x="822960" y="4983480"/>
            <a:ext cx="10424160" cy="1280160"/>
          </a:xfrm>
          <a:prstGeom prst="rect">
            <a:avLst/>
          </a:prstGeom>
          <a:noFill/>
          <a:ln/>
        </p:spPr>
        <p:txBody>
          <a:bodyPr wrap="square" rtlCol="0" anchor="t"/>
          <a:lstStyle/>
          <a:p>
            <a:pPr marL="177800" indent="-177800" algn="l">
              <a:lnSpc>
                <a:spcPct val="108000"/>
              </a:lnSpc>
              <a:spcAft>
                <a:spcPts val="600"/>
              </a:spcAft>
              <a:buSzPct val="100000"/>
              <a:buChar char="•"/>
            </a:pPr>
            <a:r>
              <a:rPr lang="en-US" sz="1600" dirty="0">
                <a:solidFill>
                  <a:srgbClr val="16232E"/>
                </a:solidFill>
                <a:latin typeface="Calibri" pitchFamily="34" charset="0"/>
                <a:ea typeface="Calibri" pitchFamily="34" charset="-122"/>
                <a:cs typeface="Calibri" pitchFamily="34" charset="-120"/>
              </a:rPr>
              <a:t>Primary key: strong entities self-identify; weak entities need the owner's key + a discriminator (partial key).</a:t>
            </a:r>
            <a:endParaRPr lang="en-US" sz="1600" dirty="0"/>
          </a:p>
          <a:p>
            <a:pPr marL="177800" indent="-177800" algn="l">
              <a:lnSpc>
                <a:spcPct val="108000"/>
              </a:lnSpc>
              <a:spcAft>
                <a:spcPts val="600"/>
              </a:spcAft>
              <a:buSzPct val="100000"/>
              <a:buChar char="•"/>
            </a:pPr>
            <a:r>
              <a:rPr lang="en-US" sz="1600" dirty="0">
                <a:solidFill>
                  <a:srgbClr val="16232E"/>
                </a:solidFill>
                <a:latin typeface="Calibri" pitchFamily="34" charset="0"/>
                <a:ea typeface="Calibri" pitchFamily="34" charset="-122"/>
                <a:cs typeface="Calibri" pitchFamily="34" charset="-120"/>
              </a:rPr>
              <a:t>Existence: strong entities exist independently; weak entities cannot exist without their owning (identifying) entity.</a:t>
            </a:r>
            <a:endParaRPr lang="en-US" sz="1600" dirty="0"/>
          </a:p>
          <a:p>
            <a:pPr marL="177800" indent="-177800" algn="l">
              <a:lnSpc>
                <a:spcPct val="108000"/>
              </a:lnSpc>
              <a:spcAft>
                <a:spcPts val="600"/>
              </a:spcAft>
              <a:buSzPct val="100000"/>
              <a:buChar char="•"/>
            </a:pPr>
            <a:r>
              <a:rPr lang="en-US" sz="1600" dirty="0">
                <a:solidFill>
                  <a:srgbClr val="16232E"/>
                </a:solidFill>
                <a:latin typeface="Calibri" pitchFamily="34" charset="0"/>
                <a:ea typeface="Calibri" pitchFamily="34" charset="-122"/>
                <a:cs typeface="Calibri" pitchFamily="34" charset="-120"/>
              </a:rPr>
              <a:t>Notation: strong entity = single-lined rectangle; weak entity = double-lined rectangle, linked via an identifying (double-lined diamond) relationship.</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548640" y="29260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TOPIC 10 · UNDERSTAND</a:t>
            </a:r>
            <a:endParaRPr lang="en-US" sz="1200" dirty="0"/>
          </a:p>
        </p:txBody>
      </p:sp>
      <p:sp>
        <p:nvSpPr>
          <p:cNvPr id="3" name="Text 1"/>
          <p:cNvSpPr/>
          <p:nvPr/>
        </p:nvSpPr>
        <p:spPr>
          <a:xfrm>
            <a:off x="493589" y="351764"/>
            <a:ext cx="10607040" cy="68580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EER Diagram — Retail Chain Management</a:t>
            </a:r>
            <a:endParaRPr lang="en-US" sz="3000" dirty="0"/>
          </a:p>
        </p:txBody>
      </p:sp>
      <p:sp>
        <p:nvSpPr>
          <p:cNvPr id="4" name="Text 2"/>
          <p:cNvSpPr/>
          <p:nvPr/>
        </p:nvSpPr>
        <p:spPr>
          <a:xfrm>
            <a:off x="11064240" y="320040"/>
            <a:ext cx="914400" cy="320040"/>
          </a:xfrm>
          <a:prstGeom prst="rect">
            <a:avLst/>
          </a:prstGeom>
          <a:noFill/>
          <a:ln/>
        </p:spPr>
        <p:txBody>
          <a:bodyPr wrap="square" rtlCol="0" anchor="ctr"/>
          <a:lstStyle/>
          <a:p>
            <a:pPr marL="0" indent="0" algn="r">
              <a:buNone/>
            </a:pPr>
            <a:r>
              <a:rPr lang="en-US" sz="1100" dirty="0">
                <a:solidFill>
                  <a:srgbClr val="5C7488"/>
                </a:solidFill>
                <a:latin typeface="Calibri" pitchFamily="34" charset="0"/>
                <a:ea typeface="Calibri" pitchFamily="34" charset="-122"/>
                <a:cs typeface="Calibri" pitchFamily="34" charset="-120"/>
              </a:rPr>
              <a:t>11 / 12</a:t>
            </a:r>
            <a:endParaRPr lang="en-US" sz="1100" dirty="0"/>
          </a:p>
        </p:txBody>
      </p:sp>
      <p:sp>
        <p:nvSpPr>
          <p:cNvPr id="5" name="Shape 3"/>
          <p:cNvSpPr/>
          <p:nvPr/>
        </p:nvSpPr>
        <p:spPr>
          <a:xfrm>
            <a:off x="548640" y="1600200"/>
            <a:ext cx="1737360" cy="502920"/>
          </a:xfrm>
          <a:prstGeom prst="rect">
            <a:avLst/>
          </a:prstGeom>
          <a:solidFill>
            <a:srgbClr val="065A82"/>
          </a:solidFill>
          <a:ln w="15875">
            <a:solidFill>
              <a:srgbClr val="21295C"/>
            </a:solidFill>
            <a:prstDash val="solid"/>
          </a:ln>
        </p:spPr>
      </p:sp>
      <p:sp>
        <p:nvSpPr>
          <p:cNvPr id="6" name="Text 4"/>
          <p:cNvSpPr/>
          <p:nvPr/>
        </p:nvSpPr>
        <p:spPr>
          <a:xfrm>
            <a:off x="548640" y="1600200"/>
            <a:ext cx="173736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SUPPLIER</a:t>
            </a:r>
            <a:endParaRPr lang="en-US" sz="1050" dirty="0"/>
          </a:p>
        </p:txBody>
      </p:sp>
      <p:sp>
        <p:nvSpPr>
          <p:cNvPr id="7" name="Shape 5"/>
          <p:cNvSpPr/>
          <p:nvPr/>
        </p:nvSpPr>
        <p:spPr>
          <a:xfrm>
            <a:off x="525780" y="3406140"/>
            <a:ext cx="1737360" cy="502920"/>
          </a:xfrm>
          <a:prstGeom prst="rect">
            <a:avLst/>
          </a:prstGeom>
          <a:solidFill>
            <a:srgbClr val="065A82"/>
          </a:solidFill>
          <a:ln w="15875">
            <a:solidFill>
              <a:srgbClr val="21295C"/>
            </a:solidFill>
            <a:prstDash val="solid"/>
          </a:ln>
        </p:spPr>
      </p:sp>
      <p:sp>
        <p:nvSpPr>
          <p:cNvPr id="8" name="Text 6"/>
          <p:cNvSpPr/>
          <p:nvPr/>
        </p:nvSpPr>
        <p:spPr>
          <a:xfrm>
            <a:off x="411480" y="3376282"/>
            <a:ext cx="173736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p>
        </p:txBody>
      </p:sp>
      <p:sp>
        <p:nvSpPr>
          <p:cNvPr id="9" name="Shape 7"/>
          <p:cNvSpPr/>
          <p:nvPr/>
        </p:nvSpPr>
        <p:spPr>
          <a:xfrm>
            <a:off x="2906486" y="2642616"/>
            <a:ext cx="1737360" cy="502920"/>
          </a:xfrm>
          <a:prstGeom prst="rect">
            <a:avLst/>
          </a:prstGeom>
          <a:solidFill>
            <a:srgbClr val="065A82"/>
          </a:solidFill>
          <a:ln w="15875">
            <a:solidFill>
              <a:srgbClr val="21295C"/>
            </a:solidFill>
            <a:prstDash val="solid"/>
          </a:ln>
        </p:spPr>
        <p:txBody>
          <a:bodyPr/>
          <a:lstStyle/>
          <a:p>
            <a:endParaRPr lang="en-IN" dirty="0"/>
          </a:p>
        </p:txBody>
      </p:sp>
      <p:sp>
        <p:nvSpPr>
          <p:cNvPr id="10" name="Text 8"/>
          <p:cNvSpPr/>
          <p:nvPr/>
        </p:nvSpPr>
        <p:spPr>
          <a:xfrm>
            <a:off x="2906486" y="2660344"/>
            <a:ext cx="173736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STORE</a:t>
            </a:r>
            <a:endParaRPr lang="en-US" sz="1050" dirty="0"/>
          </a:p>
        </p:txBody>
      </p:sp>
      <p:sp>
        <p:nvSpPr>
          <p:cNvPr id="11" name="Shape 9"/>
          <p:cNvSpPr/>
          <p:nvPr/>
        </p:nvSpPr>
        <p:spPr>
          <a:xfrm>
            <a:off x="5120640" y="2203704"/>
            <a:ext cx="1737360" cy="502920"/>
          </a:xfrm>
          <a:prstGeom prst="rect">
            <a:avLst/>
          </a:prstGeom>
          <a:solidFill>
            <a:srgbClr val="065A82"/>
          </a:solidFill>
          <a:ln w="15875">
            <a:solidFill>
              <a:srgbClr val="21295C"/>
            </a:solidFill>
            <a:prstDash val="solid"/>
          </a:ln>
        </p:spPr>
      </p:sp>
      <p:sp>
        <p:nvSpPr>
          <p:cNvPr id="12" name="Text 10"/>
          <p:cNvSpPr/>
          <p:nvPr/>
        </p:nvSpPr>
        <p:spPr>
          <a:xfrm>
            <a:off x="5120640" y="2240280"/>
            <a:ext cx="173736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SALE</a:t>
            </a:r>
            <a:endParaRPr lang="en-US" sz="1050" dirty="0"/>
          </a:p>
        </p:txBody>
      </p:sp>
      <p:sp>
        <p:nvSpPr>
          <p:cNvPr id="13" name="Shape 11"/>
          <p:cNvSpPr/>
          <p:nvPr/>
        </p:nvSpPr>
        <p:spPr>
          <a:xfrm>
            <a:off x="7406640" y="2240280"/>
            <a:ext cx="1737360" cy="502920"/>
          </a:xfrm>
          <a:prstGeom prst="rect">
            <a:avLst/>
          </a:prstGeom>
          <a:solidFill>
            <a:srgbClr val="065A82"/>
          </a:solidFill>
          <a:ln w="15875">
            <a:solidFill>
              <a:srgbClr val="21295C"/>
            </a:solidFill>
            <a:prstDash val="solid"/>
          </a:ln>
        </p:spPr>
      </p:sp>
      <p:sp>
        <p:nvSpPr>
          <p:cNvPr id="14" name="Text 12"/>
          <p:cNvSpPr/>
          <p:nvPr/>
        </p:nvSpPr>
        <p:spPr>
          <a:xfrm>
            <a:off x="7406640" y="2240280"/>
            <a:ext cx="173736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p>
        </p:txBody>
      </p:sp>
      <p:sp>
        <p:nvSpPr>
          <p:cNvPr id="15" name="Shape 13"/>
          <p:cNvSpPr/>
          <p:nvPr/>
        </p:nvSpPr>
        <p:spPr>
          <a:xfrm>
            <a:off x="2834640" y="902737"/>
            <a:ext cx="1737360" cy="502920"/>
          </a:xfrm>
          <a:prstGeom prst="rect">
            <a:avLst/>
          </a:prstGeom>
          <a:solidFill>
            <a:srgbClr val="21295C"/>
          </a:solidFill>
          <a:ln w="15875">
            <a:solidFill>
              <a:srgbClr val="21295C"/>
            </a:solidFill>
            <a:prstDash val="solid"/>
          </a:ln>
        </p:spPr>
      </p:sp>
      <p:sp>
        <p:nvSpPr>
          <p:cNvPr id="16" name="Text 14"/>
          <p:cNvSpPr/>
          <p:nvPr/>
        </p:nvSpPr>
        <p:spPr>
          <a:xfrm>
            <a:off x="2834640" y="918972"/>
            <a:ext cx="173736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EMPLOYEE (Superclass)</a:t>
            </a:r>
            <a:endParaRPr lang="en-US" sz="1050" dirty="0"/>
          </a:p>
        </p:txBody>
      </p:sp>
      <p:sp>
        <p:nvSpPr>
          <p:cNvPr id="17" name="Shape 15"/>
          <p:cNvSpPr/>
          <p:nvPr/>
        </p:nvSpPr>
        <p:spPr>
          <a:xfrm>
            <a:off x="2377440" y="1463040"/>
            <a:ext cx="914400" cy="457200"/>
          </a:xfrm>
          <a:prstGeom prst="diamond">
            <a:avLst/>
          </a:prstGeom>
          <a:solidFill>
            <a:srgbClr val="F2B134"/>
          </a:solidFill>
          <a:ln w="12700">
            <a:solidFill>
              <a:srgbClr val="21295C"/>
            </a:solidFill>
            <a:prstDash val="solid"/>
          </a:ln>
        </p:spPr>
      </p:sp>
      <p:sp>
        <p:nvSpPr>
          <p:cNvPr id="18" name="Text 16"/>
          <p:cNvSpPr/>
          <p:nvPr/>
        </p:nvSpPr>
        <p:spPr>
          <a:xfrm>
            <a:off x="2148840" y="1463040"/>
            <a:ext cx="1371600" cy="45720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SUPPLIES</a:t>
            </a:r>
            <a:endParaRPr lang="en-US" sz="950" dirty="0"/>
          </a:p>
        </p:txBody>
      </p:sp>
      <p:sp>
        <p:nvSpPr>
          <p:cNvPr id="19" name="Shape 17"/>
          <p:cNvSpPr/>
          <p:nvPr/>
        </p:nvSpPr>
        <p:spPr>
          <a:xfrm>
            <a:off x="2743200" y="3223260"/>
            <a:ext cx="914400" cy="457200"/>
          </a:xfrm>
          <a:prstGeom prst="diamond">
            <a:avLst/>
          </a:prstGeom>
          <a:solidFill>
            <a:srgbClr val="F2B134"/>
          </a:solidFill>
          <a:ln w="12700">
            <a:solidFill>
              <a:srgbClr val="21295C"/>
            </a:solidFill>
            <a:prstDash val="solid"/>
          </a:ln>
        </p:spPr>
      </p:sp>
      <p:sp>
        <p:nvSpPr>
          <p:cNvPr id="20" name="Text 18"/>
          <p:cNvSpPr/>
          <p:nvPr/>
        </p:nvSpPr>
        <p:spPr>
          <a:xfrm>
            <a:off x="2514600" y="3207864"/>
            <a:ext cx="1371600" cy="45720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STOCKS</a:t>
            </a:r>
            <a:endParaRPr lang="en-US" sz="950" dirty="0"/>
          </a:p>
        </p:txBody>
      </p:sp>
      <p:sp>
        <p:nvSpPr>
          <p:cNvPr id="21" name="Shape 19"/>
          <p:cNvSpPr/>
          <p:nvPr/>
        </p:nvSpPr>
        <p:spPr>
          <a:xfrm>
            <a:off x="4937760" y="2816912"/>
            <a:ext cx="914400" cy="457200"/>
          </a:xfrm>
          <a:prstGeom prst="diamond">
            <a:avLst/>
          </a:prstGeom>
          <a:solidFill>
            <a:srgbClr val="F2B134"/>
          </a:solidFill>
          <a:ln w="12700">
            <a:solidFill>
              <a:srgbClr val="21295C"/>
            </a:solidFill>
            <a:prstDash val="solid"/>
          </a:ln>
        </p:spPr>
      </p:sp>
      <p:sp>
        <p:nvSpPr>
          <p:cNvPr id="22" name="Text 20"/>
          <p:cNvSpPr/>
          <p:nvPr/>
        </p:nvSpPr>
        <p:spPr>
          <a:xfrm>
            <a:off x="4699829" y="2823443"/>
            <a:ext cx="1371600" cy="45720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RECORDS</a:t>
            </a:r>
            <a:endParaRPr lang="en-US" sz="950" dirty="0"/>
          </a:p>
        </p:txBody>
      </p:sp>
      <p:sp>
        <p:nvSpPr>
          <p:cNvPr id="23" name="Shape 21"/>
          <p:cNvSpPr/>
          <p:nvPr/>
        </p:nvSpPr>
        <p:spPr>
          <a:xfrm>
            <a:off x="6949440" y="2377440"/>
            <a:ext cx="914400" cy="457200"/>
          </a:xfrm>
          <a:prstGeom prst="diamond">
            <a:avLst/>
          </a:prstGeom>
          <a:solidFill>
            <a:srgbClr val="F2B134"/>
          </a:solidFill>
          <a:ln w="12700">
            <a:solidFill>
              <a:srgbClr val="21295C"/>
            </a:solidFill>
            <a:prstDash val="solid"/>
          </a:ln>
        </p:spPr>
      </p:sp>
      <p:sp>
        <p:nvSpPr>
          <p:cNvPr id="24" name="Text 22"/>
          <p:cNvSpPr/>
          <p:nvPr/>
        </p:nvSpPr>
        <p:spPr>
          <a:xfrm>
            <a:off x="6720840" y="2377440"/>
            <a:ext cx="1371600" cy="45720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MAKES</a:t>
            </a:r>
            <a:endParaRPr lang="en-US" sz="950" dirty="0"/>
          </a:p>
        </p:txBody>
      </p:sp>
      <p:sp>
        <p:nvSpPr>
          <p:cNvPr id="25" name="Shape 23"/>
          <p:cNvSpPr/>
          <p:nvPr/>
        </p:nvSpPr>
        <p:spPr>
          <a:xfrm flipV="1">
            <a:off x="2286000" y="1691640"/>
            <a:ext cx="91440" cy="155448"/>
          </a:xfrm>
          <a:prstGeom prst="line">
            <a:avLst/>
          </a:prstGeom>
          <a:noFill/>
          <a:ln w="19050">
            <a:solidFill>
              <a:srgbClr val="21295C"/>
            </a:solidFill>
            <a:prstDash val="solid"/>
          </a:ln>
        </p:spPr>
      </p:sp>
      <p:sp>
        <p:nvSpPr>
          <p:cNvPr id="26" name="Shape 24"/>
          <p:cNvSpPr/>
          <p:nvPr/>
        </p:nvSpPr>
        <p:spPr>
          <a:xfrm>
            <a:off x="3291840" y="2103120"/>
            <a:ext cx="0" cy="137160"/>
          </a:xfrm>
          <a:prstGeom prst="line">
            <a:avLst/>
          </a:prstGeom>
          <a:noFill/>
          <a:ln w="19050">
            <a:solidFill>
              <a:srgbClr val="21295C"/>
            </a:solidFill>
            <a:prstDash val="solid"/>
          </a:ln>
        </p:spPr>
      </p:sp>
      <p:sp>
        <p:nvSpPr>
          <p:cNvPr id="27" name="Shape 25"/>
          <p:cNvSpPr/>
          <p:nvPr/>
        </p:nvSpPr>
        <p:spPr>
          <a:xfrm flipV="1">
            <a:off x="2286000" y="3429000"/>
            <a:ext cx="457200" cy="137160"/>
          </a:xfrm>
          <a:prstGeom prst="line">
            <a:avLst/>
          </a:prstGeom>
          <a:noFill/>
          <a:ln w="19050">
            <a:solidFill>
              <a:srgbClr val="21295C"/>
            </a:solidFill>
            <a:prstDash val="solid"/>
          </a:ln>
        </p:spPr>
      </p:sp>
      <p:sp>
        <p:nvSpPr>
          <p:cNvPr id="28" name="Shape 26"/>
          <p:cNvSpPr/>
          <p:nvPr/>
        </p:nvSpPr>
        <p:spPr>
          <a:xfrm flipV="1">
            <a:off x="3200400" y="3099816"/>
            <a:ext cx="0" cy="123444"/>
          </a:xfrm>
          <a:prstGeom prst="line">
            <a:avLst/>
          </a:prstGeom>
          <a:noFill/>
          <a:ln w="19050">
            <a:solidFill>
              <a:srgbClr val="21295C"/>
            </a:solidFill>
            <a:prstDash val="solid"/>
          </a:ln>
        </p:spPr>
      </p:sp>
      <p:sp>
        <p:nvSpPr>
          <p:cNvPr id="29" name="Shape 27"/>
          <p:cNvSpPr/>
          <p:nvPr/>
        </p:nvSpPr>
        <p:spPr>
          <a:xfrm>
            <a:off x="4602791" y="2917496"/>
            <a:ext cx="365760" cy="128016"/>
          </a:xfrm>
          <a:prstGeom prst="line">
            <a:avLst/>
          </a:prstGeom>
          <a:noFill/>
          <a:ln w="19050">
            <a:solidFill>
              <a:srgbClr val="21295C"/>
            </a:solidFill>
            <a:prstDash val="solid"/>
          </a:ln>
        </p:spPr>
      </p:sp>
      <p:sp>
        <p:nvSpPr>
          <p:cNvPr id="30" name="Shape 28"/>
          <p:cNvSpPr/>
          <p:nvPr/>
        </p:nvSpPr>
        <p:spPr>
          <a:xfrm flipH="1">
            <a:off x="5374433" y="2578608"/>
            <a:ext cx="0" cy="274880"/>
          </a:xfrm>
          <a:prstGeom prst="line">
            <a:avLst/>
          </a:prstGeom>
          <a:noFill/>
          <a:ln w="19050">
            <a:solidFill>
              <a:srgbClr val="21295C"/>
            </a:solidFill>
            <a:prstDash val="solid"/>
          </a:ln>
        </p:spPr>
      </p:sp>
      <p:sp>
        <p:nvSpPr>
          <p:cNvPr id="31" name="Shape 29"/>
          <p:cNvSpPr/>
          <p:nvPr/>
        </p:nvSpPr>
        <p:spPr>
          <a:xfrm>
            <a:off x="6858000" y="2487168"/>
            <a:ext cx="91440" cy="118872"/>
          </a:xfrm>
          <a:prstGeom prst="line">
            <a:avLst/>
          </a:prstGeom>
          <a:noFill/>
          <a:ln w="19050">
            <a:solidFill>
              <a:srgbClr val="21295C"/>
            </a:solidFill>
            <a:prstDash val="solid"/>
          </a:ln>
        </p:spPr>
      </p:sp>
      <p:sp>
        <p:nvSpPr>
          <p:cNvPr id="32" name="Shape 30"/>
          <p:cNvSpPr/>
          <p:nvPr/>
        </p:nvSpPr>
        <p:spPr>
          <a:xfrm>
            <a:off x="7863840" y="2487168"/>
            <a:ext cx="0" cy="118872"/>
          </a:xfrm>
          <a:prstGeom prst="line">
            <a:avLst/>
          </a:prstGeom>
          <a:noFill/>
          <a:ln w="19050">
            <a:solidFill>
              <a:srgbClr val="21295C"/>
            </a:solidFill>
            <a:prstDash val="solid"/>
          </a:ln>
        </p:spPr>
      </p:sp>
      <p:sp>
        <p:nvSpPr>
          <p:cNvPr id="33" name="Shape 31"/>
          <p:cNvSpPr/>
          <p:nvPr/>
        </p:nvSpPr>
        <p:spPr>
          <a:xfrm flipV="1">
            <a:off x="3337560" y="1554480"/>
            <a:ext cx="731520" cy="365760"/>
          </a:xfrm>
          <a:prstGeom prst="triangle">
            <a:avLst/>
          </a:prstGeom>
          <a:solidFill>
            <a:srgbClr val="F2B134"/>
          </a:solidFill>
          <a:ln w="12700">
            <a:solidFill>
              <a:srgbClr val="21295C"/>
            </a:solidFill>
            <a:prstDash val="solid"/>
          </a:ln>
        </p:spPr>
      </p:sp>
      <p:sp>
        <p:nvSpPr>
          <p:cNvPr id="34" name="Text 32"/>
          <p:cNvSpPr/>
          <p:nvPr/>
        </p:nvSpPr>
        <p:spPr>
          <a:xfrm>
            <a:off x="3337560" y="1572768"/>
            <a:ext cx="731520" cy="320040"/>
          </a:xfrm>
          <a:prstGeom prst="rect">
            <a:avLst/>
          </a:prstGeom>
          <a:noFill/>
          <a:ln/>
        </p:spPr>
        <p:txBody>
          <a:bodyPr wrap="square" rtlCol="0" anchor="ctr"/>
          <a:lstStyle/>
          <a:p>
            <a:pPr marL="0" indent="0" algn="ctr">
              <a:buNone/>
            </a:pPr>
            <a:r>
              <a:rPr lang="en-US" sz="800" b="1" dirty="0">
                <a:solidFill>
                  <a:srgbClr val="21295C"/>
                </a:solidFill>
                <a:latin typeface="Calibri" pitchFamily="34" charset="0"/>
                <a:ea typeface="Calibri" pitchFamily="34" charset="-122"/>
                <a:cs typeface="Calibri" pitchFamily="34" charset="-120"/>
              </a:rPr>
              <a:t>ISA</a:t>
            </a:r>
            <a:endParaRPr lang="en-US" sz="800" dirty="0"/>
          </a:p>
        </p:txBody>
      </p:sp>
      <p:sp>
        <p:nvSpPr>
          <p:cNvPr id="35" name="Shape 33"/>
          <p:cNvSpPr/>
          <p:nvPr/>
        </p:nvSpPr>
        <p:spPr>
          <a:xfrm>
            <a:off x="3703320" y="1051560"/>
            <a:ext cx="0" cy="228600"/>
          </a:xfrm>
          <a:prstGeom prst="line">
            <a:avLst/>
          </a:prstGeom>
          <a:noFill/>
          <a:ln w="19050">
            <a:solidFill>
              <a:srgbClr val="21295C"/>
            </a:solidFill>
            <a:prstDash val="solid"/>
          </a:ln>
        </p:spPr>
      </p:sp>
      <p:sp>
        <p:nvSpPr>
          <p:cNvPr id="36" name="Shape 34"/>
          <p:cNvSpPr/>
          <p:nvPr/>
        </p:nvSpPr>
        <p:spPr>
          <a:xfrm>
            <a:off x="2651760" y="2011680"/>
            <a:ext cx="1051560" cy="365760"/>
          </a:xfrm>
          <a:prstGeom prst="rect">
            <a:avLst/>
          </a:prstGeom>
          <a:solidFill>
            <a:srgbClr val="1C7293"/>
          </a:solidFill>
          <a:ln w="15875">
            <a:solidFill>
              <a:srgbClr val="21295C"/>
            </a:solidFill>
            <a:prstDash val="solid"/>
          </a:ln>
        </p:spPr>
      </p:sp>
      <p:sp>
        <p:nvSpPr>
          <p:cNvPr id="37" name="Text 35"/>
          <p:cNvSpPr/>
          <p:nvPr/>
        </p:nvSpPr>
        <p:spPr>
          <a:xfrm>
            <a:off x="2651760" y="2011680"/>
            <a:ext cx="10515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MANAGER</a:t>
            </a:r>
            <a:endParaRPr lang="en-US" sz="1050" dirty="0"/>
          </a:p>
        </p:txBody>
      </p:sp>
      <p:sp>
        <p:nvSpPr>
          <p:cNvPr id="38" name="Shape 36"/>
          <p:cNvSpPr/>
          <p:nvPr/>
        </p:nvSpPr>
        <p:spPr>
          <a:xfrm>
            <a:off x="3931920" y="2011680"/>
            <a:ext cx="1051560" cy="365760"/>
          </a:xfrm>
          <a:prstGeom prst="rect">
            <a:avLst/>
          </a:prstGeom>
          <a:solidFill>
            <a:srgbClr val="1C7293"/>
          </a:solidFill>
          <a:ln w="15875">
            <a:solidFill>
              <a:srgbClr val="21295C"/>
            </a:solidFill>
            <a:prstDash val="solid"/>
          </a:ln>
        </p:spPr>
      </p:sp>
      <p:sp>
        <p:nvSpPr>
          <p:cNvPr id="39" name="Text 37"/>
          <p:cNvSpPr/>
          <p:nvPr/>
        </p:nvSpPr>
        <p:spPr>
          <a:xfrm>
            <a:off x="3931920" y="2011680"/>
            <a:ext cx="105156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CASHIER</a:t>
            </a:r>
            <a:endParaRPr lang="en-US" sz="1050" dirty="0"/>
          </a:p>
        </p:txBody>
      </p:sp>
      <p:sp>
        <p:nvSpPr>
          <p:cNvPr id="40" name="Shape 38"/>
          <p:cNvSpPr/>
          <p:nvPr/>
        </p:nvSpPr>
        <p:spPr>
          <a:xfrm flipH="1">
            <a:off x="3200400" y="1764792"/>
            <a:ext cx="365760" cy="246888"/>
          </a:xfrm>
          <a:prstGeom prst="line">
            <a:avLst/>
          </a:prstGeom>
          <a:noFill/>
          <a:ln w="19050">
            <a:solidFill>
              <a:srgbClr val="21295C"/>
            </a:solidFill>
            <a:prstDash val="solid"/>
          </a:ln>
        </p:spPr>
      </p:sp>
      <p:sp>
        <p:nvSpPr>
          <p:cNvPr id="41" name="Shape 39"/>
          <p:cNvSpPr/>
          <p:nvPr/>
        </p:nvSpPr>
        <p:spPr>
          <a:xfrm>
            <a:off x="3840480" y="1732788"/>
            <a:ext cx="594360" cy="278892"/>
          </a:xfrm>
          <a:prstGeom prst="line">
            <a:avLst/>
          </a:prstGeom>
          <a:noFill/>
          <a:ln w="19050">
            <a:solidFill>
              <a:srgbClr val="21295C"/>
            </a:solidFill>
            <a:prstDash val="solid"/>
          </a:ln>
        </p:spPr>
      </p:sp>
      <p:sp>
        <p:nvSpPr>
          <p:cNvPr id="42" name="Shape 40"/>
          <p:cNvSpPr/>
          <p:nvPr/>
        </p:nvSpPr>
        <p:spPr>
          <a:xfrm>
            <a:off x="548640" y="4160520"/>
            <a:ext cx="11064240" cy="2286000"/>
          </a:xfrm>
          <a:prstGeom prst="roundRect">
            <a:avLst>
              <a:gd name="adj" fmla="val 3600"/>
            </a:avLst>
          </a:prstGeom>
          <a:solidFill>
            <a:srgbClr val="FFFFFF"/>
          </a:solidFill>
          <a:ln w="12700">
            <a:solidFill>
              <a:srgbClr val="DCE6EA"/>
            </a:solidFill>
            <a:prstDash val="solid"/>
          </a:ln>
          <a:effectLst>
            <a:outerShdw blurRad="101600" dist="38100" dir="5400000" algn="bl" rotWithShape="0">
              <a:srgbClr val="1B2733">
                <a:alpha val="12000"/>
              </a:srgbClr>
            </a:outerShdw>
          </a:effectLst>
        </p:spPr>
      </p:sp>
      <p:sp>
        <p:nvSpPr>
          <p:cNvPr id="43" name="Text 41"/>
          <p:cNvSpPr/>
          <p:nvPr/>
        </p:nvSpPr>
        <p:spPr>
          <a:xfrm>
            <a:off x="822960" y="4297680"/>
            <a:ext cx="5486400" cy="32004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Design Walkthrough</a:t>
            </a:r>
            <a:endParaRPr lang="en-US" sz="1400" dirty="0"/>
          </a:p>
        </p:txBody>
      </p:sp>
      <p:sp>
        <p:nvSpPr>
          <p:cNvPr id="44" name="Text 42"/>
          <p:cNvSpPr/>
          <p:nvPr/>
        </p:nvSpPr>
        <p:spPr>
          <a:xfrm>
            <a:off x="822960" y="4663440"/>
            <a:ext cx="10424160" cy="1691640"/>
          </a:xfrm>
          <a:prstGeom prst="rect">
            <a:avLst/>
          </a:prstGeom>
          <a:noFill/>
          <a:ln/>
        </p:spPr>
        <p:txBody>
          <a:bodyPr wrap="square" rtlCol="0" anchor="t"/>
          <a:lstStyle/>
          <a:p>
            <a:pPr marL="177800" indent="-177800" algn="l">
              <a:lnSpc>
                <a:spcPct val="108000"/>
              </a:lnSpc>
              <a:spcAft>
                <a:spcPts val="700"/>
              </a:spcAft>
              <a:buSzPct val="100000"/>
              <a:buChar char="•"/>
            </a:pPr>
            <a:r>
              <a:rPr lang="en-US" sz="1150" dirty="0">
                <a:solidFill>
                  <a:srgbClr val="16232E"/>
                </a:solidFill>
                <a:latin typeface="Calibri" pitchFamily="34" charset="0"/>
                <a:ea typeface="Calibri" pitchFamily="34" charset="-122"/>
                <a:cs typeface="Calibri" pitchFamily="34" charset="-120"/>
              </a:rPr>
              <a:t>SUPPLIER supplies PRODUCT; each STORE stocks a range of PRODUCTs, tracked through the STOCKS relationship.</a:t>
            </a:r>
            <a:endParaRPr lang="en-US" sz="1150" dirty="0"/>
          </a:p>
          <a:p>
            <a:pPr marL="177800" indent="-177800" algn="l">
              <a:lnSpc>
                <a:spcPct val="108000"/>
              </a:lnSpc>
              <a:spcAft>
                <a:spcPts val="700"/>
              </a:spcAft>
              <a:buSzPct val="100000"/>
              <a:buChar char="•"/>
            </a:pPr>
            <a:r>
              <a:rPr lang="en-US" sz="1150" dirty="0">
                <a:solidFill>
                  <a:srgbClr val="16232E"/>
                </a:solidFill>
                <a:latin typeface="Calibri" pitchFamily="34" charset="0"/>
                <a:ea typeface="Calibri" pitchFamily="34" charset="-122"/>
                <a:cs typeface="Calibri" pitchFamily="34" charset="-120"/>
              </a:rPr>
              <a:t>A SALE RECORDS transaction links a STORE to the PRODUCTs sold, and a CUSTOMER MAKES the purchase.</a:t>
            </a:r>
            <a:endParaRPr lang="en-US" sz="1150" dirty="0"/>
          </a:p>
          <a:p>
            <a:pPr marL="177800" indent="-177800" algn="l">
              <a:lnSpc>
                <a:spcPct val="108000"/>
              </a:lnSpc>
              <a:spcAft>
                <a:spcPts val="700"/>
              </a:spcAft>
              <a:buSzPct val="100000"/>
              <a:buChar char="•"/>
            </a:pPr>
            <a:r>
              <a:rPr lang="en-US" sz="1150" dirty="0">
                <a:solidFill>
                  <a:srgbClr val="16232E"/>
                </a:solidFill>
                <a:latin typeface="Calibri" pitchFamily="34" charset="0"/>
                <a:ea typeface="Calibri" pitchFamily="34" charset="-122"/>
                <a:cs typeface="Calibri" pitchFamily="34" charset="-120"/>
              </a:rPr>
              <a:t>EMPLOYEE is specialised (EER ‘ISA’) into MANAGER and CASHIER — both inherit core attributes (ID, Name) while adding role-specific ones (e.g. Manager: TargetRevenue; Cashier: ShiftTiming).</a:t>
            </a:r>
            <a:endParaRPr lang="en-US" sz="1150" dirty="0"/>
          </a:p>
          <a:p>
            <a:pPr marL="177800" indent="-177800" algn="l">
              <a:lnSpc>
                <a:spcPct val="108000"/>
              </a:lnSpc>
              <a:spcAft>
                <a:spcPts val="700"/>
              </a:spcAft>
              <a:buSzPct val="100000"/>
              <a:buChar char="•"/>
            </a:pPr>
            <a:r>
              <a:rPr lang="en-US" sz="1150" dirty="0">
                <a:solidFill>
                  <a:srgbClr val="16232E"/>
                </a:solidFill>
                <a:latin typeface="Calibri" pitchFamily="34" charset="0"/>
                <a:ea typeface="Calibri" pitchFamily="34" charset="-122"/>
                <a:cs typeface="Calibri" pitchFamily="34" charset="-120"/>
              </a:rPr>
              <a:t>This EER design captures the retail chain's full structure — supply, inventory, sales and staff roles — in one coherent, extensible schema.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2606040" y="2057400"/>
            <a:ext cx="2743200" cy="2743200"/>
          </a:xfrm>
          <a:prstGeom prst="ellipse">
            <a:avLst/>
          </a:prstGeom>
          <a:ln w="12700">
            <a:solidFill>
              <a:srgbClr val="1C7293">
                <a:alpha val="60000"/>
              </a:srgbClr>
            </a:solidFill>
            <a:prstDash val="solid"/>
          </a:ln>
        </p:spPr>
      </p:sp>
      <p:sp>
        <p:nvSpPr>
          <p:cNvPr id="3" name="Shape 1"/>
          <p:cNvSpPr/>
          <p:nvPr/>
        </p:nvSpPr>
        <p:spPr>
          <a:xfrm>
            <a:off x="2011680" y="1463040"/>
            <a:ext cx="3931920" cy="3931920"/>
          </a:xfrm>
          <a:prstGeom prst="ellipse">
            <a:avLst/>
          </a:prstGeom>
          <a:ln w="12700">
            <a:solidFill>
              <a:srgbClr val="1C7293">
                <a:alpha val="48000"/>
              </a:srgbClr>
            </a:solidFill>
            <a:prstDash val="solid"/>
          </a:ln>
        </p:spPr>
      </p:sp>
      <p:sp>
        <p:nvSpPr>
          <p:cNvPr id="4" name="Shape 2"/>
          <p:cNvSpPr/>
          <p:nvPr/>
        </p:nvSpPr>
        <p:spPr>
          <a:xfrm>
            <a:off x="1417320" y="868680"/>
            <a:ext cx="5120640" cy="5120640"/>
          </a:xfrm>
          <a:prstGeom prst="ellipse">
            <a:avLst/>
          </a:prstGeom>
          <a:ln w="12700">
            <a:solidFill>
              <a:srgbClr val="1C7293">
                <a:alpha val="36000"/>
              </a:srgbClr>
            </a:solidFill>
            <a:prstDash val="solid"/>
          </a:ln>
        </p:spPr>
      </p:sp>
      <p:sp>
        <p:nvSpPr>
          <p:cNvPr id="5" name="Shape 3"/>
          <p:cNvSpPr/>
          <p:nvPr/>
        </p:nvSpPr>
        <p:spPr>
          <a:xfrm>
            <a:off x="3611880" y="3017520"/>
            <a:ext cx="822960" cy="822960"/>
          </a:xfrm>
          <a:prstGeom prst="roundRect">
            <a:avLst>
              <a:gd name="adj" fmla="val 16667"/>
            </a:avLst>
          </a:prstGeom>
          <a:solidFill>
            <a:srgbClr val="F2B134"/>
          </a:solidFill>
          <a:ln/>
        </p:spPr>
      </p:sp>
      <p:sp>
        <p:nvSpPr>
          <p:cNvPr id="6" name="Text 4"/>
          <p:cNvSpPr/>
          <p:nvPr/>
        </p:nvSpPr>
        <p:spPr>
          <a:xfrm>
            <a:off x="3611880" y="3017520"/>
            <a:ext cx="822960" cy="822960"/>
          </a:xfrm>
          <a:prstGeom prst="rect">
            <a:avLst/>
          </a:prstGeom>
          <a:noFill/>
          <a:ln/>
        </p:spPr>
        <p:txBody>
          <a:bodyPr wrap="square" rtlCol="0" anchor="ctr"/>
          <a:lstStyle/>
          <a:p>
            <a:pPr marL="0" indent="0" algn="ctr">
              <a:buNone/>
            </a:pPr>
            <a:r>
              <a:rPr lang="en-US" sz="2200" b="1" dirty="0">
                <a:solidFill>
                  <a:srgbClr val="21295C"/>
                </a:solidFill>
                <a:latin typeface="Cambria" pitchFamily="34" charset="0"/>
                <a:ea typeface="Cambria" pitchFamily="34" charset="-122"/>
                <a:cs typeface="Cambria" pitchFamily="34" charset="-120"/>
              </a:rPr>
              <a:t>DB</a:t>
            </a:r>
            <a:endParaRPr lang="en-US" sz="2200" dirty="0"/>
          </a:p>
        </p:txBody>
      </p:sp>
      <p:sp>
        <p:nvSpPr>
          <p:cNvPr id="7" name="Text 5"/>
          <p:cNvSpPr/>
          <p:nvPr/>
        </p:nvSpPr>
        <p:spPr>
          <a:xfrm>
            <a:off x="5669280" y="2331720"/>
            <a:ext cx="5852160"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8" name="Text 6"/>
          <p:cNvSpPr/>
          <p:nvPr/>
        </p:nvSpPr>
        <p:spPr>
          <a:xfrm>
            <a:off x="5687568" y="3337560"/>
            <a:ext cx="5486400" cy="457200"/>
          </a:xfrm>
          <a:prstGeom prst="rect">
            <a:avLst/>
          </a:prstGeom>
          <a:noFill/>
          <a:ln/>
        </p:spPr>
        <p:txBody>
          <a:bodyPr wrap="square" rtlCol="0" anchor="ctr"/>
          <a:lstStyle/>
          <a:p>
            <a:pPr marL="0" indent="0">
              <a:buNone/>
            </a:pPr>
            <a:r>
              <a:rPr lang="en-US" sz="1600" dirty="0">
                <a:solidFill>
                  <a:srgbClr val="F2B134"/>
                </a:solidFill>
                <a:latin typeface="Calibri" pitchFamily="34" charset="0"/>
                <a:ea typeface="Calibri" pitchFamily="34" charset="-122"/>
                <a:cs typeface="Calibri" pitchFamily="34" charset="-120"/>
              </a:rPr>
              <a:t>Questions &amp; Discussion</a:t>
            </a:r>
            <a:endParaRPr lang="en-US" sz="1600" dirty="0"/>
          </a:p>
        </p:txBody>
      </p:sp>
      <p:sp>
        <p:nvSpPr>
          <p:cNvPr id="9" name="Shape 7"/>
          <p:cNvSpPr/>
          <p:nvPr/>
        </p:nvSpPr>
        <p:spPr>
          <a:xfrm>
            <a:off x="5687568" y="3977640"/>
            <a:ext cx="2011680" cy="0"/>
          </a:xfrm>
          <a:prstGeom prst="line">
            <a:avLst/>
          </a:prstGeom>
          <a:noFill/>
          <a:ln w="25400">
            <a:solidFill>
              <a:srgbClr val="1C7293"/>
            </a:solidFill>
            <a:prstDash val="solid"/>
          </a:ln>
        </p:spPr>
      </p:sp>
      <p:sp>
        <p:nvSpPr>
          <p:cNvPr id="10" name="Text 8"/>
          <p:cNvSpPr/>
          <p:nvPr/>
        </p:nvSpPr>
        <p:spPr>
          <a:xfrm>
            <a:off x="5687568" y="4160520"/>
            <a:ext cx="5303520" cy="822960"/>
          </a:xfrm>
          <a:prstGeom prst="rect">
            <a:avLst/>
          </a:prstGeom>
          <a:noFill/>
          <a:ln/>
        </p:spPr>
        <p:txBody>
          <a:bodyPr wrap="square" rtlCol="0" anchor="ctr"/>
          <a:lstStyle/>
          <a:p>
            <a:pPr marL="0" indent="0">
              <a:lnSpc>
                <a:spcPct val="120000"/>
              </a:lnSpc>
              <a:buNone/>
            </a:pPr>
            <a:r>
              <a:rPr lang="en-US" sz="1200" dirty="0">
                <a:solidFill>
                  <a:srgbClr val="CFE8F0"/>
                </a:solidFill>
                <a:latin typeface="Calibri" pitchFamily="34" charset="0"/>
                <a:ea typeface="Calibri" pitchFamily="34" charset="-122"/>
                <a:cs typeface="Calibri" pitchFamily="34" charset="-120"/>
              </a:rPr>
              <a:t>Database Management Systems — from foundations and architecture through ER/EER modelling and industry case studies.</a:t>
            </a:r>
            <a:endParaRPr lang="en-US" sz="1200" dirty="0"/>
          </a:p>
        </p:txBody>
      </p:sp>
      <p:sp>
        <p:nvSpPr>
          <p:cNvPr id="11" name="Text 9"/>
          <p:cNvSpPr/>
          <p:nvPr/>
        </p:nvSpPr>
        <p:spPr>
          <a:xfrm>
            <a:off x="5687568" y="5852160"/>
            <a:ext cx="5486400" cy="365760"/>
          </a:xfrm>
          <a:prstGeom prst="rect">
            <a:avLst/>
          </a:prstGeom>
          <a:noFill/>
          <a:ln/>
        </p:spPr>
        <p:txBody>
          <a:bodyPr wrap="square" rtlCol="0" anchor="ctr"/>
          <a:lstStyle/>
          <a:p>
            <a:pPr marL="0" indent="0">
              <a:buNone/>
            </a:pPr>
            <a:r>
              <a:rPr lang="en-US" sz="1200" dirty="0">
                <a:solidFill>
                  <a:srgbClr val="5C7488"/>
                </a:solidFill>
                <a:latin typeface="Calibri" pitchFamily="34" charset="0"/>
                <a:ea typeface="Calibri" pitchFamily="34" charset="-122"/>
                <a:cs typeface="Calibri" pitchFamily="34" charset="-120"/>
              </a:rPr>
              <a:t>Nitthyendren  •  B.E. Information Technology  •  SIMATS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1408</Words>
  <Application>Microsoft Office PowerPoint</Application>
  <PresentationFormat>Widescreen</PresentationFormat>
  <Paragraphs>224</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jsnitthyendren@outlook.com</cp:lastModifiedBy>
  <cp:revision>3</cp:revision>
  <dcterms:created xsi:type="dcterms:W3CDTF">2026-07-29T07:15:29Z</dcterms:created>
  <dcterms:modified xsi:type="dcterms:W3CDTF">2026-07-29T09:13:05Z</dcterms:modified>
</cp:coreProperties>
</file>