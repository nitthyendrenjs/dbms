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77" r:id="rId6"/>
    <p:sldId id="264" r:id="rId7"/>
    <p:sldId id="265" r:id="rId8"/>
    <p:sldId id="266" r:id="rId9"/>
    <p:sldId id="268" r:id="rId10"/>
    <p:sldId id="278" r:id="rId11"/>
    <p:sldId id="274" r:id="rId12"/>
    <p:sldId id="275" r:id="rId13"/>
    <p:sldId id="269" r:id="rId14"/>
    <p:sldId id="270" r:id="rId15"/>
    <p:sldId id="276" r:id="rId16"/>
    <p:sldId id="273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317"/>
      </p:cViewPr>
      <p:guideLst>
        <p:guide orient="horz" pos="285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1213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7046" y="1368773"/>
            <a:ext cx="1035113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8442"/>
            <a:ext cx="11994931" cy="11231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24000" y="2036930"/>
            <a:ext cx="937323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CSA0501-Database Management System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-1676400" y="1990897"/>
            <a:ext cx="15992368" cy="4557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2955" marR="3315335" indent="545465">
              <a:lnSpc>
                <a:spcPct val="111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5257800"/>
            <a:ext cx="2832531" cy="1161857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lang="en-US" b="1" spc="-25" dirty="0">
              <a:latin typeface="Times New Roman" panose="02020603050405020304"/>
              <a:cs typeface="Times New Roman" panose="02020603050405020304"/>
            </a:endParaRPr>
          </a:p>
          <a:p>
            <a:pPr marL="237490">
              <a:lnSpc>
                <a:spcPct val="100000"/>
              </a:lnSpc>
              <a:spcBef>
                <a:spcPts val="1280"/>
              </a:spcBef>
            </a:pPr>
            <a:r>
              <a:rPr lang="en-IN" sz="1800" b="1" spc="-25" dirty="0" err="1">
                <a:latin typeface="Times New Roman" panose="02020603050405020304"/>
                <a:cs typeface="Times New Roman" panose="02020603050405020304"/>
              </a:rPr>
              <a:t>Nitthyendren</a:t>
            </a:r>
            <a:r>
              <a:rPr lang="en-IN" sz="1800" b="1" spc="-25" dirty="0">
                <a:latin typeface="Times New Roman" panose="02020603050405020304"/>
                <a:cs typeface="Times New Roman" panose="02020603050405020304"/>
              </a:rPr>
              <a:t> JS (192421180)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7993" y="5263896"/>
            <a:ext cx="2038350" cy="993862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lang="en-US" sz="2000" b="1" spc="-25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en-IN" sz="2000" b="1" spc="-25" dirty="0">
                <a:latin typeface="Times New Roman" panose="02020603050405020304"/>
                <a:cs typeface="Times New Roman" panose="02020603050405020304"/>
              </a:rPr>
              <a:t>Dr. Jaya Mabel Rani</a:t>
            </a:r>
            <a:endParaRPr sz="1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79C4E-E23E-C9C2-8448-D5F423DD8338}"/>
              </a:ext>
            </a:extLst>
          </p:cNvPr>
          <p:cNvSpPr txBox="1"/>
          <p:nvPr/>
        </p:nvSpPr>
        <p:spPr>
          <a:xfrm>
            <a:off x="1014984" y="2822188"/>
            <a:ext cx="101620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Rental Property Management and House Discovery System Using Relational Database Management System (RDBMS)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889" rIns="0" bIns="0" rtlCol="0">
            <a:spAutoFit/>
          </a:bodyPr>
          <a:lstStyle/>
          <a:p>
            <a:pPr marL="360743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INDEX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3124200" y="1219200"/>
            <a:ext cx="6678295" cy="532574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94970" indent="-382270">
              <a:lnSpc>
                <a:spcPct val="100000"/>
              </a:lnSpc>
              <a:spcBef>
                <a:spcPts val="8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7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7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335" marR="986155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5605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PROPOSED 	SYSTEM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METHODOLOGY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MODULES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RESULTS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STANDARDS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SDG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CONTRIBUTION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4970" indent="-382270">
              <a:lnSpc>
                <a:spcPct val="100000"/>
              </a:lnSpc>
              <a:spcBef>
                <a:spcPts val="625"/>
              </a:spcBef>
              <a:buFont typeface="Arial Black" panose="020B0A04020102020204"/>
              <a:buChar char="□"/>
              <a:tabLst>
                <a:tab pos="39497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05000" y="212471"/>
            <a:ext cx="8646206" cy="1213774"/>
          </a:xfrm>
          <a:prstGeom prst="rect">
            <a:avLst/>
          </a:prstGeom>
        </p:spPr>
        <p:txBody>
          <a:bodyPr vert="horz" wrap="square" lIns="0" tIns="302514" rIns="0" bIns="0" rtlCol="0">
            <a:spAutoFit/>
          </a:bodyPr>
          <a:lstStyle/>
          <a:p>
            <a:pPr marL="231203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1331493" y="1347781"/>
            <a:ext cx="9958104" cy="5142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Rental markets in India are fragmented, broker-driven, and lack a single verified source of truth for pricing and availability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Most listing portals store data informally (spreadsheets, unstructured web forms) leading to duplication and stale listings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Proposed system replaces this with a fully relational, database-backed platform where every input — property, owner, tenant, booking — is captured through structured forms and persisted in normalized tables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Goal: demonstrate how core RDBMS principles (keys, constraints, joins, transactions) can power a real, usable application end-to-end</a:t>
            </a:r>
          </a:p>
          <a:p>
            <a:pPr marL="12065" marR="5080" algn="l">
              <a:spcBef>
                <a:spcPts val="100"/>
              </a:spcBef>
              <a:tabLst>
                <a:tab pos="380365" algn="l"/>
                <a:tab pos="450850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Emphasis on the complete input → validation → storage → retrieval pipeline, not just the UI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PROBLEM</a:t>
            </a:r>
            <a:r>
              <a:rPr sz="3200" spc="-150" dirty="0"/>
              <a:t> </a:t>
            </a:r>
            <a:r>
              <a:rPr sz="3200" spc="-10" dirty="0"/>
              <a:t>STATEMENTS</a:t>
            </a:r>
            <a:r>
              <a:rPr sz="3200" spc="-155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10" dirty="0"/>
              <a:t>OBJECTIVES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295400" y="1390903"/>
            <a:ext cx="9799553" cy="523476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centralized, verified record of rental data for a locality; information exists in silos across broker networks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loosely structured record-keeping causes redundant, inconsistent, and orphaned data (e.g., a property record surviving after its owner is deleted)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defined relationships between owners, properties, tenants, and bookings creates update and deletion anomalies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Searching/filtering is slow and inaccurate without indexed, structured storage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 system where every piece of incoming data is validated, related correctly, and stored in a query-optimized relational structure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C3DF9F-0362-B35A-247C-D71FDC1F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9301A3C-98D0-1558-C1FF-6E75719FE7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0A1DDF09-0EA2-32DC-F024-B65B0A47B4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1338869A-D37E-888A-3D28-1036E74DC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768451"/>
          </a:xfrm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LITRATURE REVIEW</a:t>
            </a:r>
            <a:endParaRPr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5A4CF9-4F62-CF3D-3F85-7302713D5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4133"/>
              </p:ext>
            </p:extLst>
          </p:nvPr>
        </p:nvGraphicFramePr>
        <p:xfrm>
          <a:off x="2209800" y="1516220"/>
          <a:ext cx="7848600" cy="468146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277157">
                  <a:extLst>
                    <a:ext uri="{9D8B030D-6E8A-4147-A177-3AD203B41FA5}">
                      <a16:colId xmlns:a16="http://schemas.microsoft.com/office/drawing/2014/main" val="1103741635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287909318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3310835347"/>
                    </a:ext>
                  </a:extLst>
                </a:gridCol>
                <a:gridCol w="2190481">
                  <a:extLst>
                    <a:ext uri="{9D8B030D-6E8A-4147-A177-3AD203B41FA5}">
                      <a16:colId xmlns:a16="http://schemas.microsoft.com/office/drawing/2014/main" val="3281311355"/>
                    </a:ext>
                  </a:extLst>
                </a:gridCol>
              </a:tblGrid>
              <a:tr h="37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 / Gap Identified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561612692"/>
                  </a:ext>
                </a:extLst>
              </a:tr>
              <a:tr h="372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 (2021)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rental portals in India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 analysis of existing platforms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broker dependency, lack of price transparency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24256342"/>
                  </a:ext>
                </a:extLst>
              </a:tr>
              <a:tr h="69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 (2020)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RDBMS-based real estate systems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schema design with normalization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3NF designs reduce redundancy but rarely applied in commercial listing sites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545648867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&amp; Verma (2022)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Geo-tagged property search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PostGIS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/spatial extension on relational DB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indexing improves search speed but adds schema complexity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23531995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(2019)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and fraud in rental listings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study of fake listing complaints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Verified/structured data entry reduces fraudulent listings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49179111"/>
                  </a:ext>
                </a:extLst>
              </a:tr>
              <a:tr h="531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 et al. (2023)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triggers for automation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stored procedures/triggers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status updates reduces manual admin overhead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3634876904"/>
                  </a:ext>
                </a:extLst>
              </a:tr>
              <a:tr h="69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Menon &amp; Iyer (2022)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Tenant-owner matching systems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filtering on relational data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SQL-based filters perform well without needing AI/ML for small datasets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428989746"/>
                  </a:ext>
                </a:extLst>
              </a:tr>
              <a:tr h="85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Project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Rental discovery on pure RDBMS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Normalized schema + SQL-driven modules</a:t>
                      </a:r>
                    </a:p>
                  </a:txBody>
                  <a:tcPr marL="48142" marR="48142" marT="24071" marB="240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listing, search, and booking lifecycle in one relational model without external dependencies</a:t>
                      </a:r>
                    </a:p>
                  </a:txBody>
                  <a:tcPr marL="48142" marR="48142" marT="24071" marB="24071" anchor="ctr"/>
                </a:tc>
                <a:extLst>
                  <a:ext uri="{0D108BD9-81ED-4DB2-BD59-A6C34878D82A}">
                    <a16:rowId xmlns:a16="http://schemas.microsoft.com/office/drawing/2014/main" val="184506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07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974141" cy="12346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2157" y="83363"/>
            <a:ext cx="1520112" cy="13428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1183949"/>
          </a:xfrm>
          <a:prstGeom prst="rect">
            <a:avLst/>
          </a:prstGeom>
        </p:spPr>
        <p:txBody>
          <a:bodyPr vert="horz" wrap="square" lIns="0" tIns="197139" rIns="0" bIns="0" rtlCol="0">
            <a:spAutoFit/>
          </a:bodyPr>
          <a:lstStyle/>
          <a:p>
            <a:pPr marL="65405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1: Property Listing &amp; Owner Management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19134" y="1586865"/>
            <a:ext cx="11315666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capture: Owner registration form (name, contact, ID proof reference) and Property listing form (address, rent, BHK, deposit, amenities, images)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before storage: rent and BHK checked against CHECK constraints; mandatory fields enforced via NOT NULL; duplicate owner emails prevented via UNIQUE constraint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Owner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PK) → Property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FK) → separate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PropertyImages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Amenities tables to avoid multi-valued fields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 One owner can list many properties (1:N)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supported: Insert new listing, update availability status, soft-delete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flag) instead of hard delete to preserve booking history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1260893"/>
          </a:xfrm>
          <a:prstGeom prst="rect">
            <a:avLst/>
          </a:prstGeom>
        </p:spPr>
        <p:txBody>
          <a:bodyPr vert="horz" wrap="square" lIns="0" tIns="273339" rIns="0" bIns="0" rtlCol="0">
            <a:spAutoFit/>
          </a:bodyPr>
          <a:lstStyle/>
          <a:p>
            <a:pPr marL="1028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2: Tenant Search &amp; Property Discovery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600200"/>
            <a:ext cx="11086200" cy="4898777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capture: Tenant search form (locality, rent range, BHK, furnishing type) — read-only input, converted directly into SQL predicates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Tenant table stores registered seeker profiles;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SearchPreference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optionally logs saved filters for repeat use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FK)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mechanism: filters map to a parameterized query using WHERE, BETWEEN (rent range), and ORDER BY (relevance/price); JOIN with Owner table pulls contact/listing detail into results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indexes created on locality and rent columns in Property table to speed up frequent filter queries</a:t>
            </a:r>
          </a:p>
          <a:p>
            <a:pPr marL="380365" indent="-3429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ranked, de-duplicated property list rendered to the tenant with no broker layer involved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797305"/>
          </a:xfrm>
          <a:prstGeom prst="rect">
            <a:avLst/>
          </a:prstGeom>
        </p:spPr>
        <p:txBody>
          <a:bodyPr vert="horz" wrap="square" lIns="0" tIns="301914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Module 3: Booking, Matching &amp; Feedback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68997" y="1676400"/>
            <a:ext cx="10454005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capture: Booking request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preferred visit date), owner's accept/reject response, post-visit rating and comment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design: Booking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status); Match table models tenant ↔ property many-to-many links; Review table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rating, comment)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on storage: a trigger updates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Property.status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"Occupied" automatically once a booking is confirmed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Aggregation: AVG() and COUNT() computed over Review rows to display property rating summaries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388620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safety: booking confirmation wrapped in a transaction so partial writes cannot occur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95400" y="2133600"/>
            <a:ext cx="10265410" cy="3757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 promotes transparent, affordable housing access and reduces information asymmetry in urban rental markets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Infrastructure: demonstrates a resilient, structured digital infrastructure (RDBMS) replacing informal record-keeping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 – Reduced Inequalities: removes broker gatekeeping and paywalls, giving equal, direct access to rental data</a:t>
            </a:r>
          </a:p>
          <a:p>
            <a:pPr marL="354965" marR="28892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0365" algn="l"/>
                <a:tab pos="44386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 (partial): structured, auditable records support accountability and reduce fraudulent listings</a:t>
            </a:r>
          </a:p>
          <a:p>
            <a:pPr marL="12065" marR="288925">
              <a:spcBef>
                <a:spcPts val="100"/>
              </a:spcBef>
              <a:tabLst>
                <a:tab pos="380365" algn="l"/>
                <a:tab pos="44386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76400" y="609600"/>
            <a:ext cx="8646206" cy="923330"/>
          </a:xfrm>
        </p:spPr>
        <p:txBody>
          <a:bodyPr/>
          <a:lstStyle/>
          <a:p>
            <a:pPr algn="ctr"/>
            <a:r>
              <a:rPr lang="en-IN" sz="3000" dirty="0"/>
              <a:t>Alignment with UN Sustainable Development Goals (SDGs)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4F9A8-4671-2A1E-7F50-07355484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731D51-D391-0E73-B6E2-880D44CC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615315"/>
          </a:xfrm>
        </p:spPr>
        <p:txBody>
          <a:bodyPr/>
          <a:lstStyle/>
          <a:p>
            <a:pPr algn="ctr" rtl="0">
              <a:buNone/>
            </a:pPr>
            <a:r>
              <a:rPr lang="en-IN" dirty="0"/>
              <a:t> IEEE Standards Followed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7A905-BA09-8FF2-A17E-B74BEEA3125C}"/>
              </a:ext>
            </a:extLst>
          </p:cNvPr>
          <p:cNvSpPr txBox="1"/>
          <p:nvPr/>
        </p:nvSpPr>
        <p:spPr>
          <a:xfrm>
            <a:off x="1752600" y="1143000"/>
            <a:ext cx="9144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830-1998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Requirements Specification (SRS)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Used to document functional requirements (property listing, search, booking) and non-functional requirements (data integrity, response time) before schema design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1016-2009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Design Description (SDD)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Used to structure the system's design documentation, including ER diagrams, table schemas, and module-level design for the three modules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829-2008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and System Test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 Used to define test cases for CRUD operations, constraint validation (NOT NULL, FK, CHECK), and referential integrity checks during testing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ISO/IEC/IEEE 12207-2017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Software Life Cycle Processes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   Followed for the overall development life cycle: requirements → design → implementation → testing → deployment of the database-driven application</a:t>
            </a:r>
          </a:p>
        </p:txBody>
      </p:sp>
    </p:spTree>
    <p:extLst>
      <p:ext uri="{BB962C8B-B14F-4D97-AF65-F5344CB8AC3E}">
        <p14:creationId xmlns:p14="http://schemas.microsoft.com/office/powerpoint/2010/main" val="2612856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587392"/>
            <a:ext cx="5970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Advantages &amp; Limitations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752600" y="1371600"/>
            <a:ext cx="10265410" cy="5042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288925" algn="l">
              <a:lnSpc>
                <a:spcPct val="150000"/>
              </a:lnSpc>
              <a:spcBef>
                <a:spcPts val="100"/>
              </a:spcBef>
              <a:tabLst>
                <a:tab pos="380365" algn="l"/>
                <a:tab pos="4438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Advantages: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Centralized, consistent, and de-duplicated rental data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Reduced broker dependency; direct owner-to-tenant visibility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Fast, indexed search and reliable multi-table reporting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✔️ Data integrity guaranteed by constraints, not just application logic</a:t>
            </a:r>
          </a:p>
          <a:p>
            <a:pPr marL="12065" marR="288925" algn="l">
              <a:lnSpc>
                <a:spcPct val="150000"/>
              </a:lnSpc>
              <a:spcBef>
                <a:spcPts val="100"/>
              </a:spcBef>
              <a:tabLst>
                <a:tab pos="380365" algn="l"/>
                <a:tab pos="443865" algn="l"/>
              </a:tabLst>
            </a:pP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Limitations: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No native geolocation/spatial querying in the base RDBMS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Scalability under very high concurrent load depends on further tuning/caching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✖️ Currently handles structured data only; no image/document content analysis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7769" y="177129"/>
            <a:ext cx="8646206" cy="615315"/>
          </a:xfrm>
        </p:spPr>
        <p:txBody>
          <a:bodyPr/>
          <a:lstStyle/>
          <a:p>
            <a:pPr algn="ctr"/>
            <a:r>
              <a:rPr lang="en-IN" dirty="0"/>
              <a:t>Results &amp; Sample Outputs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1BF33-F9EB-0144-0F4A-5F94D2956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30" y="1828800"/>
            <a:ext cx="8852139" cy="4160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7769" y="177129"/>
            <a:ext cx="8646206" cy="830356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92405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Future Enhancements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24000" y="1676400"/>
            <a:ext cx="9891395" cy="391132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spatial extensions (e.g.,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proximity-based property search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caching layer (e.g., Redis) in front of frequent read queries to reduce database load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verified-listing workflow backed by a document-proof table (rent receipts, ID proof)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matching module with a scoring algorithm considering budget, commute distance, preferences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292735" algn="l"/>
              </a:tabLs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built on the same relational backend for wider accessibility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9486" y="735272"/>
            <a:ext cx="52311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15661" y="1370272"/>
            <a:ext cx="10558780" cy="3554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36830" algn="ctr">
              <a:lnSpc>
                <a:spcPct val="150000"/>
              </a:lnSpc>
              <a:spcBef>
                <a:spcPts val="100"/>
              </a:spcBef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" marR="36830" algn="ctr">
              <a:lnSpc>
                <a:spcPct val="150000"/>
              </a:lnSpc>
              <a:spcBef>
                <a:spcPts val="100"/>
              </a:spcBef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designed and implemented a normalized relational database system covering the full rental lifecycle — listing, discovery, booking, and feedback — demonstrating practical application of keys, constraints, joins, views, triggers, and transactions, while supporting broader goals of housing transparency and equitable access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9486" y="377154"/>
            <a:ext cx="523113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Reference</a:t>
            </a:r>
            <a:endParaRPr lang="en-US" spc="-1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29051-2861-DC37-6A1E-39AA9F80EE1D}"/>
              </a:ext>
            </a:extLst>
          </p:cNvPr>
          <p:cNvSpPr txBox="1"/>
          <p:nvPr/>
        </p:nvSpPr>
        <p:spPr>
          <a:xfrm>
            <a:off x="2057400" y="1447800"/>
            <a:ext cx="8305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Kumar, A. &amp; Singh, R. (2021). Online Rental Platforms in India: A Survey. Journal of Digital Commerce.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Sharma, P. et al. (2020). Relational Schema Design for Real Estate Systems. Intl. Conf. on Database Systems.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Patel, N. &amp; Verma, S. (2022). Spatial Extensions in Relational Databases for Property Search. Journal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GeoInformatics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Roy, M. (2019). Fraud and Trust Issues in Online Rental Listings. Consumer Tech Review.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Anand, K. et al. (2023). Database Triggers and Stored Procedures for Workflow Automation. Intl. Journal of Computer Applications.</a:t>
            </a:r>
          </a:p>
          <a:p>
            <a:pPr marL="342900" indent="-342900">
              <a:buFont typeface="+mj-lt"/>
              <a:buAutoNum type="arabicPeriod"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United Nations. (2015). Sustainable Development Goals. sdgs.un.org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252538"/>
            <a:ext cx="7619999" cy="4352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1523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Times New Roman</vt:lpstr>
      <vt:lpstr>Office Theme</vt:lpstr>
      <vt:lpstr>CSA0501-Database Management System</vt:lpstr>
      <vt:lpstr>INDEX</vt:lpstr>
      <vt:lpstr>INTRODUCTION</vt:lpstr>
      <vt:lpstr>PROBLEM STATEMENTS AND OBJECTIVES</vt:lpstr>
      <vt:lpstr>LITRATURE REVIEW</vt:lpstr>
      <vt:lpstr>Module 1: Property Listing &amp; Owner Management</vt:lpstr>
      <vt:lpstr>Module 2: Tenant Search &amp; Property Discovery</vt:lpstr>
      <vt:lpstr>Module 3: Booking, Matching &amp; Feedback</vt:lpstr>
      <vt:lpstr>Alignment with UN Sustainable Development Goals (SDGs)</vt:lpstr>
      <vt:lpstr> IEEE Standards Followed</vt:lpstr>
      <vt:lpstr>Advantages &amp; Limitations</vt:lpstr>
      <vt:lpstr>Results &amp; Sample Outputs</vt:lpstr>
      <vt:lpstr>Future Enhancements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CSA1715 – ARTIFICIAL INTELLIGENCE</dc:title>
  <dc:creator>NITTHYENDREN J S</dc:creator>
  <cp:lastModifiedBy>jsnitthyendren@outlook.com</cp:lastModifiedBy>
  <cp:revision>2</cp:revision>
  <dcterms:created xsi:type="dcterms:W3CDTF">2026-07-14T06:53:39Z</dcterms:created>
  <dcterms:modified xsi:type="dcterms:W3CDTF">2026-07-22T06:12:39Z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2026-07-14T05:30:00Z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2026-07-14T05:30:00Z</vt:filetime>
  </property>
  <property fmtid="{D5CDD505-2E9C-101B-9397-08002B2CF9AE}" pid="7" name="ICV">
    <vt:lpwstr>7105584D2CB0435FAEA563E8EB931005_13</vt:lpwstr>
  </property>
  <property fmtid="{D5CDD505-2E9C-101B-9397-08002B2CF9AE}" pid="8" name="KSOProductBuildVer">
    <vt:lpwstr>1033-12.1.0.26880</vt:lpwstr>
  </property>
</Properties>
</file>